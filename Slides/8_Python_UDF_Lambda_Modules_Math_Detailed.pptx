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Vajpayee" userId="5b87b0fd92f11293" providerId="LiveId" clId="{0501A310-59F1-4F20-8912-C0936825A972}"/>
    <pc:docChg chg="modSld">
      <pc:chgData name="Pooja Vajpayee" userId="5b87b0fd92f11293" providerId="LiveId" clId="{0501A310-59F1-4F20-8912-C0936825A972}" dt="2026-10-03T05:38:03.728" v="3" actId="1036"/>
      <pc:docMkLst>
        <pc:docMk/>
      </pc:docMkLst>
      <pc:sldChg chg="modSp mod">
        <pc:chgData name="Pooja Vajpayee" userId="5b87b0fd92f11293" providerId="LiveId" clId="{0501A310-59F1-4F20-8912-C0936825A972}" dt="2026-10-03T05:35:26.400" v="1" actId="1036"/>
        <pc:sldMkLst>
          <pc:docMk/>
          <pc:sldMk cId="0" sldId="260"/>
        </pc:sldMkLst>
        <pc:spChg chg="mod">
          <ac:chgData name="Pooja Vajpayee" userId="5b87b0fd92f11293" providerId="LiveId" clId="{0501A310-59F1-4F20-8912-C0936825A972}" dt="2026-10-03T05:35:26.400" v="1" actId="1036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Pooja Vajpayee" userId="5b87b0fd92f11293" providerId="LiveId" clId="{0501A310-59F1-4F20-8912-C0936825A972}" dt="2026-10-03T05:38:03.728" v="3" actId="1036"/>
        <pc:sldMkLst>
          <pc:docMk/>
          <pc:sldMk cId="0" sldId="263"/>
        </pc:sldMkLst>
        <pc:spChg chg="mod">
          <ac:chgData name="Pooja Vajpayee" userId="5b87b0fd92f11293" providerId="LiveId" clId="{0501A310-59F1-4F20-8912-C0936825A972}" dt="2026-10-03T05:38:03.728" v="3" actId="1036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16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odern_tech_themed_digital_illustration_photo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" y="621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Programming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133856"/>
            <a:ext cx="61264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Defined Functions,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Lambda Functions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Importing Modules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1363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CEAFE"/>
                </a:solidFill>
              </a:rPr>
              <a:t>with focus on Python math module, examples, activities and a complete program</a:t>
            </a:r>
            <a:endParaRPr lang="en-US" sz="132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1600200" cy="329184"/>
          </a:xfrm>
          <a:prstGeom prst="roundRect">
            <a:avLst>
              <a:gd name="adj" fmla="val 44444"/>
            </a:avLst>
          </a:prstGeom>
          <a:solidFill>
            <a:srgbClr val="A855F7">
              <a:alpha val="85000"/>
            </a:srgbClr>
          </a:solidFill>
          <a:ln w="12700">
            <a:solidFill>
              <a:srgbClr val="A855F7">
                <a:alpha val="9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781044"/>
            <a:ext cx="1380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Interactive lecture deck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31720" y="3703320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31B9FF">
              <a:alpha val="85000"/>
            </a:srgbClr>
          </a:solidFill>
          <a:ln w="12700">
            <a:solidFill>
              <a:srgbClr val="31B9FF">
                <a:alpha val="9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41448" y="378104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Code + output included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407408" y="3703320"/>
            <a:ext cx="1645920" cy="329184"/>
          </a:xfrm>
          <a:prstGeom prst="roundRect">
            <a:avLst>
              <a:gd name="adj" fmla="val 44444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9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7136" y="3781044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Hands-on activities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915400" y="65836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00000"/>
                </a:solidFill>
              </a:rPr>
              <a:t>🐍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 Questions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first, then discuss with a partner for 60 seconds.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pic>
        <p:nvPicPr>
          <p:cNvPr id="9" name="Image 0" descr="/mnt/data/wide_colorful_modern_flat_illustration_scene_of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14400"/>
            <a:ext cx="5120640" cy="3337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14630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4223F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16184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F7FF"/>
                </a:solidFill>
              </a:rPr>
              <a:t>Q1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4672" y="1901952"/>
            <a:ext cx="23408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If the same 6 lines of code are repeated three times, what problem could appear later?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3611880" y="146304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72B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76472" y="16184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F7FF"/>
                </a:solidFill>
              </a:rPr>
              <a:t>Q2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76472" y="1901952"/>
            <a:ext cx="23408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What is easier to test: one large program or small named tasks? Why?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40080" y="33375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4223F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3493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F7FF"/>
                </a:solidFill>
              </a:rPr>
              <a:t>Q3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" y="3776472"/>
            <a:ext cx="23408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Where might Python keep ready-made formulas like sin, sqrt, and pi?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3611880" y="33375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72B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76472" y="3493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F7FF"/>
                </a:solidFill>
              </a:rPr>
              <a:t>Q4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776472" y="3776472"/>
            <a:ext cx="23408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Can a function exist in one single line? When would that be useful?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583680" y="45720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01F3A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4736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Starter prompt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03720" y="5010912"/>
            <a:ext cx="4526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CEAFE"/>
                </a:solidFill>
              </a:rPr>
              <a:t>“Functions help us name, reuse and organize logic.”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CEAFE"/>
                </a:solidFill>
              </a:rPr>
              <a:t>By the end, you will write your own reusable Python tools.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Outcomes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session, learners should be able to…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pic>
        <p:nvPicPr>
          <p:cNvPr id="9" name="Image 0" descr="/mnt/data/wide_cinematic_digital_3d_illustration_scene_of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43000"/>
            <a:ext cx="5074920" cy="3931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" y="14173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700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F7FF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08760" y="1618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Outcome 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08760" y="1938528"/>
            <a:ext cx="3886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CEAFE"/>
                </a:solidFill>
              </a:rPr>
              <a:t>Design and call user-defined functions with parameters, return values and clean variable scope.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" y="3154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B2448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F7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08760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Outcome 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508760" y="3675888"/>
            <a:ext cx="3886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CEAFE"/>
                </a:solidFill>
              </a:rPr>
              <a:t>Apply lambda expressions and import the math module to solve compact calculation tasks.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13232" y="5074920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0B1A30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5285232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FD0E5"/>
                </a:solidFill>
              </a:rPr>
              <a:t>Success evidence: you can explain code, modify it, run it, and interpret the output.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for the Lecture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flow from reusable logic to ready-made Python power.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0020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121F3C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28800"/>
            <a:ext cx="566928" cy="566928"/>
          </a:xfrm>
          <a:prstGeom prst="ellipse">
            <a:avLst/>
          </a:prstGeom>
          <a:solidFill>
            <a:srgbClr val="2AF7F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751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26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User-defined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functions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3520440"/>
            <a:ext cx="18105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FD0E5"/>
                </a:solidFill>
              </a:rPr>
              <a:t>Create named blocks of reusable logic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63240" y="2816352"/>
            <a:ext cx="438912" cy="292608"/>
          </a:xfrm>
          <a:prstGeom prst="rightArrow">
            <a:avLst/>
          </a:prstGeom>
          <a:solidFill>
            <a:srgbClr val="2AF7FF">
              <a:alpha val="85000"/>
            </a:srgbClr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60020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1828800"/>
            <a:ext cx="566928" cy="5669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9751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26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26060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Parameters &amp;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return values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76472" y="3520440"/>
            <a:ext cx="18105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FD0E5"/>
                </a:solidFill>
              </a:rPr>
              <a:t>Pass input and send results back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52160" y="2816352"/>
            <a:ext cx="438912" cy="292608"/>
          </a:xfrm>
          <a:prstGeom prst="rightArrow">
            <a:avLst/>
          </a:prstGeom>
          <a:solidFill>
            <a:srgbClr val="2AF7FF">
              <a:alpha val="85000"/>
            </a:srgbClr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60020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121F3C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9751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26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26060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Lambda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functions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65392" y="3520440"/>
            <a:ext cx="18105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FD0E5"/>
                </a:solidFill>
              </a:rPr>
              <a:t>Write small anonymous functions in one line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41080" y="2816352"/>
            <a:ext cx="438912" cy="292608"/>
          </a:xfrm>
          <a:prstGeom prst="rightArrow">
            <a:avLst/>
          </a:prstGeom>
          <a:solidFill>
            <a:srgbClr val="2AF7FF">
              <a:alpha val="85000"/>
            </a:srgbClr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98280" y="160020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1160" y="1828800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19751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326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72600" y="26060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Modules &amp;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math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54312" y="3520440"/>
            <a:ext cx="18105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BFD0E5"/>
                </a:solidFill>
              </a:rPr>
              <a:t>Import reliable tools from Python libraries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886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Defined Functions (UDFs)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UDF is a function created by the programmer to perform a specific task.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pic>
        <p:nvPicPr>
          <p:cNvPr id="9" name="Image 0" descr="/mnt/data/a_stylized_3d_digital_illustration_on_a_dark_navy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005840"/>
            <a:ext cx="5303520" cy="3429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13258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Why use functions?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2121408"/>
            <a:ext cx="4297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repeating the same code again and again.</a:t>
            </a:r>
            <a:endParaRPr lang="en-US" sz="1400" dirty="0"/>
          </a:p>
          <a:p>
            <a:r>
              <a:rPr lang="en-US" sz="140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a big problem into small named steps.</a:t>
            </a:r>
            <a:endParaRPr lang="en-US" sz="1400" dirty="0"/>
          </a:p>
          <a:p>
            <a:r>
              <a:rPr lang="en-US" sz="140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code easier to test, debug and explain.</a:t>
            </a:r>
            <a:endParaRPr lang="en-US" sz="1400" dirty="0"/>
          </a:p>
          <a:p>
            <a:r>
              <a:rPr lang="en-US" sz="140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logic in future programs or modules.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05840" y="4160520"/>
            <a:ext cx="4297680" cy="1051560"/>
          </a:xfrm>
          <a:prstGeom prst="roundRect">
            <a:avLst>
              <a:gd name="adj" fmla="val 5217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4306824"/>
            <a:ext cx="400507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greet(name):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"Hello, " + name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print(greet("Asha"))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29400" y="4864608"/>
            <a:ext cx="4800600" cy="640080"/>
          </a:xfrm>
          <a:prstGeom prst="roundRect">
            <a:avLst>
              <a:gd name="adj" fmla="val 8571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75704" y="5010912"/>
            <a:ext cx="4507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Hello, Asha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Anatomy of a Python Function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function definition has a header, body, indentation and optional return value.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5212080" cy="3474720"/>
          </a:xfrm>
          <a:prstGeom prst="roundRect">
            <a:avLst>
              <a:gd name="adj" fmla="val 1579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472184"/>
            <a:ext cx="4919472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calculate_area(length, width):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area = length * width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area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room_area = calculate_area(12, 8)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print(room_area)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41732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32443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53619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CEAFE"/>
                </a:solidFill>
              </a:rPr>
              <a:t>def — Keyword that starts a function definition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492240" y="205740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32443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17627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CEAFE"/>
                </a:solidFill>
              </a:rPr>
              <a:t>calculate_area — Function name: should describe the task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492240" y="269748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32443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281635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CEAFE"/>
                </a:solidFill>
              </a:rPr>
              <a:t>(length, width) — Parameters: input variables received by the function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492240" y="333756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32443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345643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CEAFE"/>
                </a:solidFill>
              </a:rPr>
              <a:t>: and indentation — The indented body belongs to the function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492240" y="3977640"/>
            <a:ext cx="4846320" cy="438912"/>
          </a:xfrm>
          <a:prstGeom prst="roundRect">
            <a:avLst>
              <a:gd name="adj" fmla="val 16667"/>
            </a:avLst>
          </a:prstGeom>
          <a:solidFill>
            <a:srgbClr val="132443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4096512"/>
            <a:ext cx="4343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CEAFE"/>
                </a:solidFill>
              </a:rPr>
              <a:t>return — Sends a value back to the caller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85800" y="5102352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5248656"/>
            <a:ext cx="4919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Parameters, Arguments, Return &amp; Scope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four ideas control how data moves through a function.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618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16733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Parameter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075688"/>
            <a:ext cx="3840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DCEAFE"/>
                </a:solidFill>
              </a:rPr>
              <a:t>Variable listed inside function brackets.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DCEAFE"/>
                </a:solidFill>
              </a:rPr>
              <a:t>Example: name in def greet(name):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618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2320" y="16733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Argument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2075688"/>
            <a:ext cx="3840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DCEAFE"/>
                </a:solidFill>
              </a:rPr>
              <a:t>Actual value sent during the function call.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DCEAFE"/>
                </a:solidFill>
              </a:rPr>
              <a:t>Example: greet("Ravi")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858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Return value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4315968"/>
            <a:ext cx="3840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DCEAFE"/>
                </a:solidFill>
              </a:rPr>
              <a:t>Result sent back to the program.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DCEAFE"/>
                </a:solidFill>
              </a:rPr>
              <a:t>Use it instead of only printing.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6309360" y="36576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858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32320" y="3913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Local scope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4315968"/>
            <a:ext cx="3840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DCEAFE"/>
                </a:solidFill>
              </a:rPr>
              <a:t>Variables created inside a function stay inside it.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DCEAFE"/>
                </a:solidFill>
              </a:rPr>
              <a:t>This avoids accidental changes.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886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Reusable Bill Calculator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function can solve the same calculation for different inputs.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5669280" cy="3429000"/>
          </a:xfrm>
          <a:prstGeom prst="roundRect">
            <a:avLst>
              <a:gd name="adj" fmla="val 1600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472184"/>
            <a:ext cx="5376672" cy="3136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final_bill(amount, tax_rate, discount):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tax = amount * tax_rate / 100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total = amount + tax - discount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round(total, 2)</a:t>
            </a:r>
            <a:endParaRPr lang="en-US" sz="1160" dirty="0"/>
          </a:p>
          <a:p>
            <a:pPr marL="0" indent="0">
              <a:buNone/>
            </a:pP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print(final_bill(1200, 5, 100))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print(final_bill(850, 12, 50))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85800" y="5074920"/>
            <a:ext cx="5669280" cy="822960"/>
          </a:xfrm>
          <a:prstGeom prst="roundRect">
            <a:avLst>
              <a:gd name="adj" fmla="val 6667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5221224"/>
            <a:ext cx="53766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1160.0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902.0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20840" y="1417320"/>
            <a:ext cx="4617720" cy="4297680"/>
          </a:xfrm>
          <a:prstGeom prst="roundRect">
            <a:avLst>
              <a:gd name="adj" fmla="val 1702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700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Trace the logic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176272"/>
            <a:ext cx="3886200" cy="1572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 is the base bill.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tax_rate is converted to a percentage calculation.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is subtracted after tax is added.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round(total, 2) keeps output clean.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08660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AF7FF"/>
                </a:solidFill>
              </a:rPr>
              <a:t>Mini question: What happens if the discount is larger than the amount?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Lambda Function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lambda is a small anonymous function written in one expression.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pic>
        <p:nvPicPr>
          <p:cNvPr id="9" name="Image 0" descr="/mnt/data/a_clean_stylized_digital_illustration_on_a_dark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51560"/>
            <a:ext cx="521208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132588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" y="1472184"/>
            <a:ext cx="4828032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Normal function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square(n):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n * 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Equivalent lambda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square = lambda n: n * 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print(square(6))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4892040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" y="5038344"/>
            <a:ext cx="4828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36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537960" y="45262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121F3C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4700016"/>
            <a:ext cx="4069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CEAFE"/>
                </a:solidFill>
              </a:rPr>
              <a:t>Best use: short one-time transformations, especially with map(), filter(), sorted() and key functions.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Lambda with map(), filter() and sorted()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shines when a tiny rule is passed into another function.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258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F7FF"/>
                </a:solidFill>
              </a:rPr>
              <a:t>map()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2011680"/>
            <a:ext cx="3108960" cy="1874520"/>
          </a:xfrm>
          <a:prstGeom prst="roundRect">
            <a:avLst>
              <a:gd name="adj" fmla="val 2927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57984"/>
            <a:ext cx="2816352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nums = [1, 2, 3, 4]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squares = list(map(lambda x: x*x, nums))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print(squares)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95528" y="4224528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370832"/>
            <a:ext cx="28163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[1, 4, 9, 16]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453128" y="13258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</a:rPr>
              <a:t>filter()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654296" y="2011680"/>
            <a:ext cx="3108960" cy="1874520"/>
          </a:xfrm>
          <a:prstGeom prst="roundRect">
            <a:avLst>
              <a:gd name="adj" fmla="val 2927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157984"/>
            <a:ext cx="2816352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marks = [38, 75, 62, 29, 90]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passed = list(filter(lambda m: m &gt;= 40, marks))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print(passed)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54296" y="4224528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4370832"/>
            <a:ext cx="28163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[75, 62, 90]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8311896" y="132588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2B6"/>
                </a:solidFill>
              </a:rPr>
              <a:t>sorted()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513064" y="2011680"/>
            <a:ext cx="3108960" cy="1874520"/>
          </a:xfrm>
          <a:prstGeom prst="roundRect">
            <a:avLst>
              <a:gd name="adj" fmla="val 2927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9368" y="2157984"/>
            <a:ext cx="2816352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students = [("Asha", 88), ("Ravi", 72)]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print(sorted(students, key=lambda s: s[1]))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8513064" y="4224528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4370832"/>
            <a:ext cx="281635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[('Ravi', 72), ('Asha', 88)]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Importing Modules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is a Python file containing useful code: functions, variables and classes.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pic>
        <p:nvPicPr>
          <p:cNvPr id="9" name="Image 0" descr="/mnt/data/wide_cinematic_digital_3d_illustration_scene_of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120640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13258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Three common import styles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60120" y="2057400"/>
            <a:ext cx="4663440" cy="2697480"/>
          </a:xfrm>
          <a:prstGeom prst="roundRect">
            <a:avLst>
              <a:gd name="adj" fmla="val 2034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06424" y="2203704"/>
            <a:ext cx="4370832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math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print(math.sqrt(25))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math as 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print(m.pi)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math import sqrt, 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print(sqrt(49), pi)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60120" y="5074920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06424" y="5221224"/>
            <a:ext cx="437083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5.0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3.141592653589793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7.0 3.141592653589793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83680" y="5074920"/>
            <a:ext cx="4800600" cy="594360"/>
          </a:xfrm>
          <a:prstGeom prst="roundRect">
            <a:avLst>
              <a:gd name="adj" fmla="val 12308"/>
            </a:avLst>
          </a:prstGeom>
          <a:solidFill>
            <a:srgbClr val="0B1A30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528523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BFD0E5"/>
                </a:solidFill>
              </a:rPr>
              <a:t>Tip: prefer import math when you want readers to clearly see where a function comes from.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math Module Toolkit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 gives accurate, tested mathematical functions and constants.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2AF7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math.pi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49808" y="2039112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CEAFE"/>
                </a:solidFill>
              </a:rPr>
              <a:t>Value of π for circle formulas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FFD16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math.sqrt(x)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4544568" y="2039112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CEAFE"/>
                </a:solidFill>
              </a:rPr>
              <a:t>Square root of x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673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F472B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math.pow(a,b)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339328" y="2039112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CEAFE"/>
                </a:solidFill>
              </a:rPr>
              <a:t>a raised to power b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502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4AD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math.ceil(x)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749808" y="3867912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CEAFE"/>
                </a:solidFill>
              </a:rPr>
              <a:t>Round up to next integer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4343400" y="32461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3502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A855F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math.floor(x)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4544568" y="3867912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CEAFE"/>
                </a:solidFill>
              </a:rPr>
              <a:t>Round down to previous integer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8138160" y="32461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502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b="1" dirty="0">
                <a:solidFill>
                  <a:srgbClr val="F59E0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math.sin(x)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8339328" y="3867912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CEAFE"/>
                </a:solidFill>
              </a:rPr>
              <a:t>Sine of x in radians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594360" y="516636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" y="5312664"/>
            <a:ext cx="48280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math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radius = 7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area = math.pi * math.pow(radius, 2)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print(round(area, 2))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080760" y="51663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5312664"/>
            <a:ext cx="15361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153.94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Python Program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UDFs, lambda expressions, importing math, and list processing.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16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AF7FF"/>
                </a:solidFill>
              </a:rPr>
              <a:t>1) Define reusable tools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536192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1682496"/>
            <a:ext cx="5056632" cy="4142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math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circle_report(radius):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area = math.pi * math.pow(radius, 2)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circumference = 2 * math.pi * radius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area, circumference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grade_status(marks):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average = sum(marks) / len(marks)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rounded_average = math.ceil(average)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status = "Pass" if average &gt;= 40 else "Needs Improvement"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average, rounded_average, status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291072" y="1216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</a:rPr>
              <a:t>2) Use functions and lambdas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536192"/>
            <a:ext cx="5440680" cy="4434840"/>
          </a:xfrm>
          <a:prstGeom prst="roundRect">
            <a:avLst>
              <a:gd name="adj" fmla="val 1237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682496"/>
            <a:ext cx="5148072" cy="4142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square = lambda n: n * n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radius = 5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marks = [78, 65, 91, 48, 82]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area, circumference = circle_report(radius)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avg, rounded_avg, status = grade_status(marks)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squares = list(map(square, marks))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high_scores = list(filter(lambda m: m &gt;= 75, marks))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Output &amp; Explanation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program prints a readable report for calculations and marks.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344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380744"/>
            <a:ext cx="5102352" cy="4187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print("Circle Radius:", radius)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print("Area:", round(area, 2))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print("Circumference:", round(circumference, 2))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print("Marks:", marks)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print("Average:", round(avg, 2))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print("Rounded Average:", rounded_avg)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print("Grade Status:", status)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print("Squares of Marks:", squares)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print("High Scores:", high_scores)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23444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061119"/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380744"/>
            <a:ext cx="4965192" cy="4187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Circle Radius: 5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Area: 78.54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Circumference: 31.42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Marks: [78, 65, 91, 48, 82]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Average: 72.8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Rounded Average: 73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Grade Status: Pass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Squares of Marks: [6084, 4225, 8281, 2304, 6724]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7FFE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High Scores: [78, 91, 82]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94360" y="5925312"/>
            <a:ext cx="10927080" cy="457200"/>
          </a:xfrm>
          <a:prstGeom prst="roundRect">
            <a:avLst>
              <a:gd name="adj" fmla="val 16000"/>
            </a:avLst>
          </a:prstGeom>
          <a:solidFill>
            <a:srgbClr val="0B1A30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080760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FFD166"/>
                </a:solidFill>
              </a:rPr>
              <a:t>Learning check: Which line uses a user-defined function? Which line uses a lambda? Which line uses the math module?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1: Build a Unit Converter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work: design a reusable function and test it with different inputs.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pic>
        <p:nvPicPr>
          <p:cNvPr id="9" name="Image 0" descr="/mnt/data/a_stylized_3d_digital_illustration_on_a_dark_navy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97280"/>
            <a:ext cx="48463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137160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664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Task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2084832"/>
            <a:ext cx="4663440" cy="1572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3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function celsius_to_fahrenheit(c).</a:t>
            </a:r>
            <a:endParaRPr lang="en-US" sz="1330" dirty="0"/>
          </a:p>
          <a:p>
            <a:r>
              <a:rPr lang="en-US" sz="133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Formula: F = (C × 9/5) + 32.</a:t>
            </a:r>
            <a:endParaRPr lang="en-US" sz="1330" dirty="0"/>
          </a:p>
          <a:p>
            <a:r>
              <a:rPr lang="en-US" sz="133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it for 0°C, 25°C and 100°C.</a:t>
            </a:r>
            <a:endParaRPr lang="en-US" sz="1330" dirty="0"/>
          </a:p>
          <a:p>
            <a:r>
              <a:rPr lang="en-US" sz="133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the value; do not only print inside the function.</a:t>
            </a:r>
            <a:endParaRPr lang="en-US" sz="1330" dirty="0"/>
          </a:p>
        </p:txBody>
      </p:sp>
      <p:sp>
        <p:nvSpPr>
          <p:cNvPr id="13" name="Shape 10"/>
          <p:cNvSpPr/>
          <p:nvPr/>
        </p:nvSpPr>
        <p:spPr>
          <a:xfrm>
            <a:off x="1005840" y="4160520"/>
            <a:ext cx="4617720" cy="822960"/>
          </a:xfrm>
          <a:prstGeom prst="roundRect">
            <a:avLst>
              <a:gd name="adj" fmla="val 6667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4306824"/>
            <a:ext cx="43251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 celsius_to_fahrenheit(c):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return (c * 9 / 5) + 32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45262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B1A30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03720" y="4718304"/>
            <a:ext cx="4069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CEAFE"/>
                </a:solidFill>
              </a:rPr>
              <a:t>Extension: add a second function for Fahrenheit to Celsius and compare both outputs.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2: Lambda + math Challenge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practice: use compact functions for a small data problem.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pic>
        <p:nvPicPr>
          <p:cNvPr id="9" name="Image 0" descr="/mnt/data/a_clean_stylized_digital_illustration_on_a_dark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143000"/>
            <a:ext cx="4663440" cy="2788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1325880"/>
            <a:ext cx="5623560" cy="4572000"/>
          </a:xfrm>
          <a:prstGeom prst="roundRect">
            <a:avLst>
              <a:gd name="adj" fmla="val 1600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627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Challenge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2084832"/>
            <a:ext cx="4892040" cy="1572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distances = [3.2, 7.9, 1.5, 10.1].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lambda with map() to convert km to meters.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filter() to keep distances above 5 km.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math.ceil() to round each km value upward.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1005840" y="4160520"/>
            <a:ext cx="4937760" cy="1234440"/>
          </a:xfrm>
          <a:prstGeom prst="roundRect">
            <a:avLst>
              <a:gd name="adj" fmla="val 4444"/>
            </a:avLst>
          </a:prstGeom>
          <a:solidFill>
            <a:srgbClr val="050B16"/>
          </a:solidFill>
          <a:ln w="12700">
            <a:solidFill>
              <a:srgbClr val="2B7FFF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4306824"/>
            <a:ext cx="464515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math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distances = [3.2, 7.9, 1.5, 10.1]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meters = list(map(lambda km: km * 1000, distances))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long = list(filter(lambda km: km &gt; 5, distances))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1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rounded = list(map(lambda km: math.ceil(km), distances))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29400" y="443484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0B1A30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03720" y="4645152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DCEAFE"/>
                </a:solidFill>
              </a:rPr>
              <a:t>Expected thinking: lambda gives the rule; map/filter apply that rule to each item.</a:t>
            </a:r>
            <a:endParaRPr lang="en-US" sz="111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 &amp; Best Practices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checklist before submitting or debugging function-based code.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344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904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435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Missing indentation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1280160" y="1810512"/>
            <a:ext cx="4251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FD0E5"/>
                </a:solidFill>
              </a:rPr>
              <a:t>Function body must be indented after def line.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36208" y="12344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49047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30568" y="1435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Printing instead of returning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830568" y="1810512"/>
            <a:ext cx="4251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FD0E5"/>
                </a:solidFill>
              </a:rPr>
              <a:t>Use return when another part of the program needs the result.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2770632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02666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971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Too much lambda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1280160" y="3346704"/>
            <a:ext cx="4251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FD0E5"/>
                </a:solidFill>
              </a:rPr>
              <a:t>Use def when logic is more than one expression or needs a name.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36208" y="2770632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02666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30568" y="2971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Unclear import style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6830568" y="3346704"/>
            <a:ext cx="4251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FD0E5"/>
                </a:solidFill>
              </a:rPr>
              <a:t>Keep math.sqrt or math.pi visible when teaching or reading code.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85800" y="4306824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5628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507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Changing global variables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280160" y="4882896"/>
            <a:ext cx="4251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FD0E5"/>
                </a:solidFill>
              </a:rPr>
              <a:t>Prefer parameters and return values over hidden side effects.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236208" y="4306824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152A52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56285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30568" y="4507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No test cases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6830568" y="4882896"/>
            <a:ext cx="4251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FD0E5"/>
                </a:solidFill>
              </a:rPr>
              <a:t>Call the function with simple values and check output.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26"/>
          </a:solidFill>
          <a:ln w="12700">
            <a:solidFill>
              <a:srgbClr val="0813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3152" y="73152"/>
            <a:ext cx="2560320" cy="256032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9144000" y="4407408"/>
            <a:ext cx="2606040" cy="2240280"/>
          </a:xfrm>
          <a:prstGeom prst="arc">
            <a:avLst/>
          </a:prstGeom>
          <a:solidFill>
            <a:srgbClr val="081326">
              <a:alpha val="0"/>
            </a:srgbClr>
          </a:solidFill>
          <a:ln w="16510">
            <a:solidFill>
              <a:srgbClr val="2AF7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F7FF"/>
          </a:solidFill>
          <a:ln w="12700">
            <a:solidFill>
              <a:srgbClr val="2AF7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9184"/>
            <a:ext cx="5806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What You Can Now Do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0352" y="822960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FD0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Functions make Python programs reusable, readable and powerful.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24712"/>
            <a:ext cx="2057400" cy="0"/>
          </a:xfrm>
          <a:prstGeom prst="line">
            <a:avLst/>
          </a:prstGeom>
          <a:noFill/>
          <a:ln w="25400">
            <a:solidFill>
              <a:srgbClr val="2AF7FF"/>
            </a:solidFill>
            <a:prstDash val="solid"/>
          </a:ln>
        </p:spPr>
      </p:sp>
      <p:pic>
        <p:nvPicPr>
          <p:cNvPr id="9" name="Image 0" descr="/mnt/data/wide_colorful_modern_flat_illustration_scene_of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212080" cy="3429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13258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101F3B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Key takeaways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2057400"/>
            <a:ext cx="45720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User-defined functions package logic into reusable named blocks.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bring data in; return sends results out.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functions are compact tools for simple one-line rules.</a:t>
            </a:r>
            <a:endParaRPr lang="en-US" sz="1320" dirty="0"/>
          </a:p>
          <a:p>
            <a:r>
              <a:rPr lang="en-US" sz="1320" dirty="0">
                <a:solidFill>
                  <a:srgbClr val="DC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give access to trusted code; math adds scientific functions and constants.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1005840" y="457200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0B1A30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479145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AF7FF"/>
                </a:solidFill>
              </a:rPr>
              <a:t>Exit ticket: Write one function idea you could reuse in your next Python program.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629400" y="480060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0B1A30"/>
          </a:solidFill>
          <a:ln w="12700">
            <a:solidFill>
              <a:srgbClr val="2B426E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03720" y="4983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Thank you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75320" y="5001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0E5"/>
                </a:solidFill>
              </a:rPr>
              <a:t>Questions &amp; discussion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UDFs • Lambda • Modules • Math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84280" y="64556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2077</Words>
  <Application>Microsoft Office PowerPoint</Application>
  <PresentationFormat>Widescreen</PresentationFormat>
  <Paragraphs>326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Liberation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Functions, Lambda &amp; Modules</dc:title>
  <dc:subject>Python User Defined Functions, Lambda Functions, Importing Modules, Math Module</dc:subject>
  <dc:creator>OpenAI</dc:creator>
  <cp:lastModifiedBy>Pooja Vajpayee</cp:lastModifiedBy>
  <cp:revision>1</cp:revision>
  <dcterms:created xsi:type="dcterms:W3CDTF">2026-09-26T06:20:19Z</dcterms:created>
  <dcterms:modified xsi:type="dcterms:W3CDTF">2026-10-03T05:38:11Z</dcterms:modified>
</cp:coreProperties>
</file>