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3" r:id="rId4"/>
  </p:sldMasterIdLst>
  <p:notesMasterIdLst>
    <p:notesMasterId r:id="rId24"/>
  </p:notesMasterIdLst>
  <p:handoutMasterIdLst>
    <p:handoutMasterId r:id="rId25"/>
  </p:handoutMasterIdLst>
  <p:sldIdLst>
    <p:sldId id="312" r:id="rId5"/>
    <p:sldId id="282" r:id="rId6"/>
    <p:sldId id="328" r:id="rId7"/>
    <p:sldId id="332" r:id="rId8"/>
    <p:sldId id="334" r:id="rId9"/>
    <p:sldId id="342" r:id="rId10"/>
    <p:sldId id="307" r:id="rId11"/>
    <p:sldId id="343" r:id="rId12"/>
    <p:sldId id="314" r:id="rId13"/>
    <p:sldId id="327" r:id="rId14"/>
    <p:sldId id="317" r:id="rId15"/>
    <p:sldId id="304" r:id="rId16"/>
    <p:sldId id="329" r:id="rId17"/>
    <p:sldId id="335" r:id="rId18"/>
    <p:sldId id="341" r:id="rId19"/>
    <p:sldId id="333" r:id="rId20"/>
    <p:sldId id="338" r:id="rId21"/>
    <p:sldId id="339" r:id="rId22"/>
    <p:sldId id="297" r:id="rId2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52FFD3-66EA-4C19-93B1-92FF54FABF03}" v="1" dt="2026-08-21T06:08:21.983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5388" autoAdjust="0"/>
  </p:normalViewPr>
  <p:slideViewPr>
    <p:cSldViewPr snapToGrid="0" snapToObjects="1">
      <p:cViewPr varScale="1">
        <p:scale>
          <a:sx n="84" d="100"/>
          <a:sy n="84" d="100"/>
        </p:scale>
        <p:origin x="351" y="45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189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Vajpayee" userId="5b87b0fd92f11293" providerId="LiveId" clId="{0501A310-59F1-4F20-8912-C0936825A972}"/>
    <pc:docChg chg="custSel delSld modSld">
      <pc:chgData name="Pooja Vajpayee" userId="5b87b0fd92f11293" providerId="LiveId" clId="{0501A310-59F1-4F20-8912-C0936825A972}" dt="2026-08-21T06:08:21.982" v="16"/>
      <pc:docMkLst>
        <pc:docMk/>
      </pc:docMkLst>
      <pc:sldChg chg="modSp">
        <pc:chgData name="Pooja Vajpayee" userId="5b87b0fd92f11293" providerId="LiveId" clId="{0501A310-59F1-4F20-8912-C0936825A972}" dt="2026-08-21T06:08:21.982" v="16"/>
        <pc:sldMkLst>
          <pc:docMk/>
          <pc:sldMk cId="2202437675" sldId="312"/>
        </pc:sldMkLst>
        <pc:spChg chg="mod">
          <ac:chgData name="Pooja Vajpayee" userId="5b87b0fd92f11293" providerId="LiveId" clId="{0501A310-59F1-4F20-8912-C0936825A972}" dt="2026-08-21T06:08:21.982" v="16"/>
          <ac:spMkLst>
            <pc:docMk/>
            <pc:sldMk cId="2202437675" sldId="312"/>
            <ac:spMk id="5" creationId="{15D13C77-5584-2E97-6EAE-6617012A896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1FC609C-DC88-4C35-AEED-9A1D896ABFBF}">
      <dgm:prSet custT="1"/>
      <dgm:spPr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r>
            <a:rPr lang="en-IN" sz="2800" dirty="0">
              <a:solidFill>
                <a:srgbClr val="FFFF00"/>
              </a:solidFill>
            </a:rPr>
            <a:t>Learning Outcome 1 : </a:t>
          </a:r>
          <a:r>
            <a:rPr lang="en-IN" sz="2800" dirty="0">
              <a:solidFill>
                <a:schemeClr val="bg1"/>
              </a:solidFill>
              <a:latin typeface="Comic Sans MS" panose="030F0702030302020204" pitchFamily="66" charset="0"/>
            </a:rPr>
            <a:t>Apply operations on list. </a:t>
          </a:r>
        </a:p>
      </dgm:t>
    </dgm:pt>
    <dgm:pt modelId="{0EBE76BE-FEE0-4500-A9EC-D0A789918FB4}" type="parTrans" cxnId="{BE30BBE5-35D5-4F61-BB55-398D04B98AEE}">
      <dgm:prSet/>
      <dgm:spPr/>
      <dgm:t>
        <a:bodyPr/>
        <a:lstStyle/>
        <a:p>
          <a:endParaRPr lang="en-IN"/>
        </a:p>
      </dgm:t>
    </dgm:pt>
    <dgm:pt modelId="{A75C4C71-5501-4FD5-BBCF-A54D37DCF603}" type="sibTrans" cxnId="{BE30BBE5-35D5-4F61-BB55-398D04B98AEE}">
      <dgm:prSet/>
      <dgm:spPr/>
      <dgm:t>
        <a:bodyPr/>
        <a:lstStyle/>
        <a:p>
          <a:endParaRPr lang="en-IN"/>
        </a:p>
      </dgm:t>
    </dgm:pt>
    <dgm:pt modelId="{AF06061A-2E03-4F4B-AC19-A2718F74A676}">
      <dgm:prSet custT="1"/>
      <dgm:spPr/>
      <dgm:t>
        <a:bodyPr/>
        <a:lstStyle/>
        <a:p>
          <a:r>
            <a:rPr lang="en-IN" sz="2800" dirty="0">
              <a:solidFill>
                <a:srgbClr val="FFFF00"/>
              </a:solidFill>
            </a:rPr>
            <a:t>Learning Outcome 2: </a:t>
          </a:r>
          <a:r>
            <a:rPr lang="en-IN" sz="2800" dirty="0">
              <a:solidFill>
                <a:schemeClr val="bg1"/>
              </a:solidFill>
              <a:latin typeface="Comic Sans MS" panose="030F0702030302020204" pitchFamily="66" charset="0"/>
            </a:rPr>
            <a:t>Apply operations on tuples. </a:t>
          </a:r>
        </a:p>
      </dgm:t>
    </dgm:pt>
    <dgm:pt modelId="{739E5B49-7E20-4025-A3F0-03E3FA86CAAA}" type="parTrans" cxnId="{57A571AA-D051-4DF6-8BA3-7ADAD237F423}">
      <dgm:prSet/>
      <dgm:spPr/>
      <dgm:t>
        <a:bodyPr/>
        <a:lstStyle/>
        <a:p>
          <a:endParaRPr lang="en-IN"/>
        </a:p>
      </dgm:t>
    </dgm:pt>
    <dgm:pt modelId="{18B8C49D-91EB-4ECA-82D5-607A8ED63D13}" type="sibTrans" cxnId="{57A571AA-D051-4DF6-8BA3-7ADAD237F423}">
      <dgm:prSet/>
      <dgm:spPr/>
      <dgm:t>
        <a:bodyPr/>
        <a:lstStyle/>
        <a:p>
          <a:endParaRPr lang="en-IN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6800567B-E8BA-4056-BF4C-7A95F221F191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44D88BBB-38CB-469E-A6A9-728BBCFF911D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38D8FA70-234F-4000-93A9-1CC368BF0D65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B6628310-E262-47D3-9987-5CF319B76894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CEEDFE3E-BB49-433E-A23A-1124DD3224D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C65E8234-57E8-4467-A608-5C4CC58D76AF}" type="presOf" srcId="{AF06061A-2E03-4F4B-AC19-A2718F74A676}" destId="{CEEDFE3E-BB49-433E-A23A-1124DD3224D5}" srcOrd="1" destOrd="0" presId="urn:microsoft.com/office/officeart/2005/8/layout/vProcess5"/>
    <dgm:cxn modelId="{EBBB3277-4797-4719-8C82-814F0C7A2A14}" type="presOf" srcId="{11FC609C-DC88-4C35-AEED-9A1D896ABFBF}" destId="{6800567B-E8BA-4056-BF4C-7A95F221F191}" srcOrd="0" destOrd="0" presId="urn:microsoft.com/office/officeart/2005/8/layout/vProcess5"/>
    <dgm:cxn modelId="{783FF159-93D5-4BE6-B0D0-E3A231EBF48F}" type="presOf" srcId="{A75C4C71-5501-4FD5-BBCF-A54D37DCF603}" destId="{38D8FA70-234F-4000-93A9-1CC368BF0D65}" srcOrd="0" destOrd="0" presId="urn:microsoft.com/office/officeart/2005/8/layout/vProcess5"/>
    <dgm:cxn modelId="{86AB1F8A-5860-490E-9D63-88305629C8EA}" type="presOf" srcId="{AF06061A-2E03-4F4B-AC19-A2718F74A676}" destId="{44D88BBB-38CB-469E-A6A9-728BBCFF911D}" srcOrd="0" destOrd="0" presId="urn:microsoft.com/office/officeart/2005/8/layout/vProcess5"/>
    <dgm:cxn modelId="{13D463A3-517B-4394-B0A1-622F44616D9C}" type="presOf" srcId="{11FC609C-DC88-4C35-AEED-9A1D896ABFBF}" destId="{B6628310-E262-47D3-9987-5CF319B76894}" srcOrd="1" destOrd="0" presId="urn:microsoft.com/office/officeart/2005/8/layout/vProcess5"/>
    <dgm:cxn modelId="{57A571AA-D051-4DF6-8BA3-7ADAD237F423}" srcId="{B7ED251F-A7A3-4D25-B004-4241BE03EDC3}" destId="{AF06061A-2E03-4F4B-AC19-A2718F74A676}" srcOrd="1" destOrd="0" parTransId="{739E5B49-7E20-4025-A3F0-03E3FA86CAAA}" sibTransId="{18B8C49D-91EB-4ECA-82D5-607A8ED63D13}"/>
    <dgm:cxn modelId="{BE30BBE5-35D5-4F61-BB55-398D04B98AEE}" srcId="{B7ED251F-A7A3-4D25-B004-4241BE03EDC3}" destId="{11FC609C-DC88-4C35-AEED-9A1D896ABFBF}" srcOrd="0" destOrd="0" parTransId="{0EBE76BE-FEE0-4500-A9EC-D0A789918FB4}" sibTransId="{A75C4C71-5501-4FD5-BBCF-A54D37DCF603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681C2380-8893-4FCA-8BC3-DE7C26D49491}" type="presParOf" srcId="{E218E0F1-97EC-4D60-8F4A-A6E21D910199}" destId="{6800567B-E8BA-4056-BF4C-7A95F221F191}" srcOrd="1" destOrd="0" presId="urn:microsoft.com/office/officeart/2005/8/layout/vProcess5"/>
    <dgm:cxn modelId="{288B137A-F5F7-4768-ACDC-3B91BE1DD438}" type="presParOf" srcId="{E218E0F1-97EC-4D60-8F4A-A6E21D910199}" destId="{44D88BBB-38CB-469E-A6A9-728BBCFF911D}" srcOrd="2" destOrd="0" presId="urn:microsoft.com/office/officeart/2005/8/layout/vProcess5"/>
    <dgm:cxn modelId="{8A3C0978-0F3F-4CE5-90A1-EC5126829F77}" type="presParOf" srcId="{E218E0F1-97EC-4D60-8F4A-A6E21D910199}" destId="{38D8FA70-234F-4000-93A9-1CC368BF0D65}" srcOrd="3" destOrd="0" presId="urn:microsoft.com/office/officeart/2005/8/layout/vProcess5"/>
    <dgm:cxn modelId="{7EB6A589-7909-4F10-83B1-04AD04445BAB}" type="presParOf" srcId="{E218E0F1-97EC-4D60-8F4A-A6E21D910199}" destId="{B6628310-E262-47D3-9987-5CF319B76894}" srcOrd="4" destOrd="0" presId="urn:microsoft.com/office/officeart/2005/8/layout/vProcess5"/>
    <dgm:cxn modelId="{37133920-ABD4-4B28-95B1-F054EEFC2F95}" type="presParOf" srcId="{E218E0F1-97EC-4D60-8F4A-A6E21D910199}" destId="{CEEDFE3E-BB49-433E-A23A-1124DD3224D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/>
            <a:t>1. </a:t>
          </a:r>
          <a:r>
            <a:rPr lang="en-US" dirty="0"/>
            <a:t>Introduction to Lists</a:t>
          </a:r>
          <a:r>
            <a:rPr lang="en-IN" dirty="0">
              <a:solidFill>
                <a:schemeClr val="tx1"/>
              </a:solidFill>
            </a:rPr>
            <a:t>.</a:t>
          </a:r>
          <a:endParaRPr lang="en-US" dirty="0"/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/>
            <a:t>2 . Opening and Learning Outcomes. </a:t>
          </a:r>
          <a:endParaRPr lang="en-US" dirty="0"/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/>
            <a:t>3. </a:t>
          </a:r>
          <a:r>
            <a:rPr lang="en-US" dirty="0"/>
            <a:t> Operations on lists.</a:t>
          </a:r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51474CA9-1ADD-4331-9534-6780C3A18768}">
      <dgm:prSet/>
      <dgm:spPr/>
      <dgm:t>
        <a:bodyPr/>
        <a:lstStyle/>
        <a:p>
          <a:r>
            <a:rPr lang="en-IN" dirty="0"/>
            <a:t>4.  A1 :</a:t>
          </a:r>
          <a:endParaRPr lang="en-US" dirty="0"/>
        </a:p>
      </dgm:t>
    </dgm:pt>
    <dgm:pt modelId="{BD15203B-A2C4-421B-84CE-AC22CC6E237F}" type="parTrans" cxnId="{C10A2E97-40D9-4123-9647-358E1A64D6C9}">
      <dgm:prSet/>
      <dgm:spPr/>
      <dgm:t>
        <a:bodyPr/>
        <a:lstStyle/>
        <a:p>
          <a:endParaRPr lang="en-US"/>
        </a:p>
      </dgm:t>
    </dgm:pt>
    <dgm:pt modelId="{5FA359DE-6932-424A-BDE2-579D3E29B33A}" type="sibTrans" cxnId="{C10A2E97-40D9-4123-9647-358E1A64D6C9}">
      <dgm:prSet/>
      <dgm:spPr/>
      <dgm:t>
        <a:bodyPr/>
        <a:lstStyle/>
        <a:p>
          <a:endParaRPr lang="en-US"/>
        </a:p>
      </dgm:t>
    </dgm:pt>
    <dgm:pt modelId="{BA2E5375-FD77-47B4-A888-7387932E6D62}">
      <dgm:prSet/>
      <dgm:spPr/>
      <dgm:t>
        <a:bodyPr/>
        <a:lstStyle/>
        <a:p>
          <a:r>
            <a:rPr lang="en-IN" dirty="0"/>
            <a:t>5.</a:t>
          </a:r>
          <a:r>
            <a:rPr lang="en-US" dirty="0"/>
            <a:t> Tuples in Python</a:t>
          </a:r>
          <a:r>
            <a:rPr lang="en-IN" dirty="0"/>
            <a:t>.</a:t>
          </a:r>
          <a:endParaRPr lang="en-US" dirty="0"/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B3A5C720-F6BA-415B-BACC-D6E1E00A3E9C}">
      <dgm:prSet/>
      <dgm:spPr/>
      <dgm:t>
        <a:bodyPr/>
        <a:lstStyle/>
        <a:p>
          <a:r>
            <a:rPr lang="en-IN" dirty="0"/>
            <a:t>6 . A2 :</a:t>
          </a:r>
          <a:endParaRPr lang="en-US" dirty="0"/>
        </a:p>
      </dgm:t>
    </dgm:pt>
    <dgm:pt modelId="{F429E385-C516-4FAE-9D81-A0D8E294980B}" type="parTrans" cxnId="{0929CE6D-F2B1-4F6D-A0E5-1B096EB2DD2D}">
      <dgm:prSet/>
      <dgm:spPr/>
      <dgm:t>
        <a:bodyPr/>
        <a:lstStyle/>
        <a:p>
          <a:endParaRPr lang="en-US"/>
        </a:p>
      </dgm:t>
    </dgm:pt>
    <dgm:pt modelId="{70FFF6AF-5C8B-41F5-90C8-E0C6F35FD649}" type="sibTrans" cxnId="{0929CE6D-F2B1-4F6D-A0E5-1B096EB2DD2D}">
      <dgm:prSet/>
      <dgm:spPr/>
      <dgm:t>
        <a:bodyPr/>
        <a:lstStyle/>
        <a:p>
          <a:endParaRPr lang="en-US"/>
        </a:p>
      </dgm:t>
    </dgm:pt>
    <dgm:pt modelId="{99FC8459-9AC4-4D1E-9BDA-DFE1D1DCA09B}">
      <dgm:prSet/>
      <dgm:spPr/>
      <dgm:t>
        <a:bodyPr/>
        <a:lstStyle/>
        <a:p>
          <a:r>
            <a:rPr lang="en-IN"/>
            <a:t>7. Conclusion </a:t>
          </a:r>
          <a:r>
            <a:rPr lang="en-IN" dirty="0"/>
            <a:t>&amp; Closure</a:t>
          </a:r>
        </a:p>
      </dgm:t>
    </dgm:pt>
    <dgm:pt modelId="{77280AB4-38B6-4095-89FE-042382F10ACA}" type="parTrans" cxnId="{5CD507EF-195E-4EAE-B039-D7C99BE1A3F1}">
      <dgm:prSet/>
      <dgm:spPr/>
      <dgm:t>
        <a:bodyPr/>
        <a:lstStyle/>
        <a:p>
          <a:endParaRPr lang="en-IN"/>
        </a:p>
      </dgm:t>
    </dgm:pt>
    <dgm:pt modelId="{68E857C9-4009-415C-853F-EBFD4C6F4A7B}" type="sibTrans" cxnId="{5CD507EF-195E-4EAE-B039-D7C99BE1A3F1}">
      <dgm:prSet/>
      <dgm:spPr/>
      <dgm:t>
        <a:bodyPr/>
        <a:lstStyle/>
        <a:p>
          <a:endParaRPr lang="en-IN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</dgm:pt>
    <dgm:pt modelId="{6FF76B5C-2320-4CB5-9844-D984662B1716}" type="pres">
      <dgm:prSet presAssocID="{C8BD7C71-8F1B-400D-96A3-6B553A93EB7F}" presName="thickLine" presStyleLbl="alignNode1" presStyleIdx="0" presStyleCnt="7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7"/>
      <dgm:spPr/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7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7"/>
      <dgm:spPr/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2" presStyleCnt="7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2" presStyleCnt="7"/>
      <dgm:spPr/>
    </dgm:pt>
    <dgm:pt modelId="{0E51C315-1B46-45D6-B4D4-E44AF2F7FE47}" type="pres">
      <dgm:prSet presAssocID="{81CB55E0-0FB6-485C-B15D-9BD278F78C6F}" presName="vert1" presStyleCnt="0"/>
      <dgm:spPr/>
    </dgm:pt>
    <dgm:pt modelId="{B514687E-679F-4404-A929-C733AA004539}" type="pres">
      <dgm:prSet presAssocID="{51474CA9-1ADD-4331-9534-6780C3A18768}" presName="thickLine" presStyleLbl="alignNode1" presStyleIdx="3" presStyleCnt="7"/>
      <dgm:spPr/>
    </dgm:pt>
    <dgm:pt modelId="{80414A13-977F-40A0-BF88-8AEFF7DE361E}" type="pres">
      <dgm:prSet presAssocID="{51474CA9-1ADD-4331-9534-6780C3A18768}" presName="horz1" presStyleCnt="0"/>
      <dgm:spPr/>
    </dgm:pt>
    <dgm:pt modelId="{3E95DC57-D848-494F-A343-6CBABA986252}" type="pres">
      <dgm:prSet presAssocID="{51474CA9-1ADD-4331-9534-6780C3A18768}" presName="tx1" presStyleLbl="revTx" presStyleIdx="3" presStyleCnt="7"/>
      <dgm:spPr/>
    </dgm:pt>
    <dgm:pt modelId="{42E34139-9E2B-4ED7-9D4C-0E180FD5C739}" type="pres">
      <dgm:prSet presAssocID="{51474CA9-1ADD-4331-9534-6780C3A18768}" presName="vert1" presStyleCnt="0"/>
      <dgm:spPr/>
    </dgm:pt>
    <dgm:pt modelId="{0B062B2C-FD23-461E-89A1-3ECDF7A567C2}" type="pres">
      <dgm:prSet presAssocID="{BA2E5375-FD77-47B4-A888-7387932E6D62}" presName="thickLine" presStyleLbl="alignNode1" presStyleIdx="4" presStyleCnt="7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4" presStyleCnt="7"/>
      <dgm:spPr/>
    </dgm:pt>
    <dgm:pt modelId="{88DBC881-0983-4C91-8705-CB8A16D50941}" type="pres">
      <dgm:prSet presAssocID="{BA2E5375-FD77-47B4-A888-7387932E6D62}" presName="vert1" presStyleCnt="0"/>
      <dgm:spPr/>
    </dgm:pt>
    <dgm:pt modelId="{2B37DFBD-1045-417A-89DD-348147EAB4F5}" type="pres">
      <dgm:prSet presAssocID="{B3A5C720-F6BA-415B-BACC-D6E1E00A3E9C}" presName="thickLine" presStyleLbl="alignNode1" presStyleIdx="5" presStyleCnt="7"/>
      <dgm:spPr/>
    </dgm:pt>
    <dgm:pt modelId="{37DCFB0B-1A16-4C35-A117-077E4A9AB132}" type="pres">
      <dgm:prSet presAssocID="{B3A5C720-F6BA-415B-BACC-D6E1E00A3E9C}" presName="horz1" presStyleCnt="0"/>
      <dgm:spPr/>
    </dgm:pt>
    <dgm:pt modelId="{1DE32878-1683-410B-AEEA-0DF09EA5FA62}" type="pres">
      <dgm:prSet presAssocID="{B3A5C720-F6BA-415B-BACC-D6E1E00A3E9C}" presName="tx1" presStyleLbl="revTx" presStyleIdx="5" presStyleCnt="7"/>
      <dgm:spPr/>
    </dgm:pt>
    <dgm:pt modelId="{41D82D7D-82CC-403F-8FAA-7EF8B4434DBF}" type="pres">
      <dgm:prSet presAssocID="{B3A5C720-F6BA-415B-BACC-D6E1E00A3E9C}" presName="vert1" presStyleCnt="0"/>
      <dgm:spPr/>
    </dgm:pt>
    <dgm:pt modelId="{C00E17CF-93B3-44F2-9630-42C8C4D9A573}" type="pres">
      <dgm:prSet presAssocID="{99FC8459-9AC4-4D1E-9BDA-DFE1D1DCA09B}" presName="thickLine" presStyleLbl="alignNode1" presStyleIdx="6" presStyleCnt="7"/>
      <dgm:spPr/>
    </dgm:pt>
    <dgm:pt modelId="{FEF2EC88-6F8F-4301-AF91-82A9E13BC377}" type="pres">
      <dgm:prSet presAssocID="{99FC8459-9AC4-4D1E-9BDA-DFE1D1DCA09B}" presName="horz1" presStyleCnt="0"/>
      <dgm:spPr/>
    </dgm:pt>
    <dgm:pt modelId="{797037F6-2CA6-433A-BB99-F6CF6517BE03}" type="pres">
      <dgm:prSet presAssocID="{99FC8459-9AC4-4D1E-9BDA-DFE1D1DCA09B}" presName="tx1" presStyleLbl="revTx" presStyleIdx="6" presStyleCnt="7"/>
      <dgm:spPr/>
    </dgm:pt>
    <dgm:pt modelId="{F4E6ED3E-11A2-4D61-988A-2C3FC1B42073}" type="pres">
      <dgm:prSet presAssocID="{99FC8459-9AC4-4D1E-9BDA-DFE1D1DCA09B}" presName="vert1" presStyleCnt="0"/>
      <dgm:spPr/>
    </dgm:pt>
  </dgm:ptLst>
  <dgm:cxnLst>
    <dgm:cxn modelId="{AC777213-F11B-480E-B008-A2643A65BF23}" type="presOf" srcId="{B3A5C720-F6BA-415B-BACC-D6E1E00A3E9C}" destId="{1DE32878-1683-410B-AEEA-0DF09EA5FA62}" srcOrd="0" destOrd="0" presId="urn:microsoft.com/office/officeart/2008/layout/LinedList"/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B28E7539-702F-4403-B38C-CCE2EC9E181E}" srcId="{B64DB52A-CA4F-4852-B41E-6A1F43CC58F9}" destId="{81CB55E0-0FB6-485C-B15D-9BD278F78C6F}" srcOrd="2" destOrd="0" parTransId="{81E23C2F-5B75-4C87-B80F-F92D751EF2D3}" sibTransId="{CA453529-0F48-4EF3-8F16-E732FB1811C3}"/>
    <dgm:cxn modelId="{CB477A60-62F0-49EB-B58D-60D1B6535D8A}" type="presOf" srcId="{BA2E5375-FD77-47B4-A888-7387932E6D62}" destId="{D26876CA-709E-4928-AAF2-4734D1DACD6D}" srcOrd="0" destOrd="0" presId="urn:microsoft.com/office/officeart/2008/layout/LinedList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F50F0544-F653-402B-9303-8E578B71C73E}" type="presOf" srcId="{99FC8459-9AC4-4D1E-9BDA-DFE1D1DCA09B}" destId="{797037F6-2CA6-433A-BB99-F6CF6517BE03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0929CE6D-F2B1-4F6D-A0E5-1B096EB2DD2D}" srcId="{B64DB52A-CA4F-4852-B41E-6A1F43CC58F9}" destId="{B3A5C720-F6BA-415B-BACC-D6E1E00A3E9C}" srcOrd="5" destOrd="0" parTransId="{F429E385-C516-4FAE-9D81-A0D8E294980B}" sibTransId="{70FFF6AF-5C8B-41F5-90C8-E0C6F35FD649}"/>
    <dgm:cxn modelId="{C10A2E97-40D9-4123-9647-358E1A64D6C9}" srcId="{B64DB52A-CA4F-4852-B41E-6A1F43CC58F9}" destId="{51474CA9-1ADD-4331-9534-6780C3A18768}" srcOrd="3" destOrd="0" parTransId="{BD15203B-A2C4-421B-84CE-AC22CC6E237F}" sibTransId="{5FA359DE-6932-424A-BDE2-579D3E29B33A}"/>
    <dgm:cxn modelId="{285F19B7-0DE6-4516-940F-56080AC841F9}" srcId="{B64DB52A-CA4F-4852-B41E-6A1F43CC58F9}" destId="{BA2E5375-FD77-47B4-A888-7387932E6D62}" srcOrd="4" destOrd="0" parTransId="{9F77997F-5AC0-4D93-89AC-B37B7BDB43EF}" sibTransId="{60B3BF56-C21F-456B-A5AC-F5C3D1CA9305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791F67ED-636D-40F8-93C7-87F14CF35636}" type="presOf" srcId="{51474CA9-1ADD-4331-9534-6780C3A18768}" destId="{3E95DC57-D848-494F-A343-6CBABA986252}" srcOrd="0" destOrd="0" presId="urn:microsoft.com/office/officeart/2008/layout/LinedList"/>
    <dgm:cxn modelId="{5CD507EF-195E-4EAE-B039-D7C99BE1A3F1}" srcId="{B64DB52A-CA4F-4852-B41E-6A1F43CC58F9}" destId="{99FC8459-9AC4-4D1E-9BDA-DFE1D1DCA09B}" srcOrd="6" destOrd="0" parTransId="{77280AB4-38B6-4095-89FE-042382F10ACA}" sibTransId="{68E857C9-4009-415C-853F-EBFD4C6F4A7B}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09135F7C-D882-4001-9420-48C6F669E5A1}" type="presParOf" srcId="{573103A9-89AC-4873-8CB5-0F4B7370B2E1}" destId="{F83A5B86-9D43-4C81-A6D4-87875817B689}" srcOrd="2" destOrd="0" presId="urn:microsoft.com/office/officeart/2008/layout/LinedList"/>
    <dgm:cxn modelId="{42A74311-A9B5-4722-908E-E69DF0F7B3F2}" type="presParOf" srcId="{573103A9-89AC-4873-8CB5-0F4B7370B2E1}" destId="{3BC975C1-0C99-4F97-8C52-C1CFA0BAF551}" srcOrd="3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206F6E77-1951-4EBC-9057-DD630DD20CCA}" type="presParOf" srcId="{573103A9-89AC-4873-8CB5-0F4B7370B2E1}" destId="{7EE56E18-6978-43E9-9D4D-E31AA5BEE441}" srcOrd="4" destOrd="0" presId="urn:microsoft.com/office/officeart/2008/layout/LinedList"/>
    <dgm:cxn modelId="{5A60FA20-ADA2-431F-8796-1BE8C988B2D2}" type="presParOf" srcId="{573103A9-89AC-4873-8CB5-0F4B7370B2E1}" destId="{447FCB44-517C-43F4-BE59-391C36D21C9C}" srcOrd="5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  <dgm:cxn modelId="{0B8319B9-A001-4929-BF67-CFB04FA16945}" type="presParOf" srcId="{573103A9-89AC-4873-8CB5-0F4B7370B2E1}" destId="{B514687E-679F-4404-A929-C733AA004539}" srcOrd="6" destOrd="0" presId="urn:microsoft.com/office/officeart/2008/layout/LinedList"/>
    <dgm:cxn modelId="{257188D6-0003-435E-A862-DB1729B0A2C3}" type="presParOf" srcId="{573103A9-89AC-4873-8CB5-0F4B7370B2E1}" destId="{80414A13-977F-40A0-BF88-8AEFF7DE361E}" srcOrd="7" destOrd="0" presId="urn:microsoft.com/office/officeart/2008/layout/LinedList"/>
    <dgm:cxn modelId="{0D4D7625-BCDC-4E36-BA9D-FCFD4CC793E3}" type="presParOf" srcId="{80414A13-977F-40A0-BF88-8AEFF7DE361E}" destId="{3E95DC57-D848-494F-A343-6CBABA986252}" srcOrd="0" destOrd="0" presId="urn:microsoft.com/office/officeart/2008/layout/LinedList"/>
    <dgm:cxn modelId="{0E040604-2F36-489D-A967-FB8740498707}" type="presParOf" srcId="{80414A13-977F-40A0-BF88-8AEFF7DE361E}" destId="{42E34139-9E2B-4ED7-9D4C-0E180FD5C739}" srcOrd="1" destOrd="0" presId="urn:microsoft.com/office/officeart/2008/layout/LinedList"/>
    <dgm:cxn modelId="{DEAB5A35-1128-4DEF-AE18-D024423701D7}" type="presParOf" srcId="{573103A9-89AC-4873-8CB5-0F4B7370B2E1}" destId="{0B062B2C-FD23-461E-89A1-3ECDF7A567C2}" srcOrd="8" destOrd="0" presId="urn:microsoft.com/office/officeart/2008/layout/LinedList"/>
    <dgm:cxn modelId="{055AE2A9-59D6-49A8-A0DB-1D091F45E10E}" type="presParOf" srcId="{573103A9-89AC-4873-8CB5-0F4B7370B2E1}" destId="{1BF4D050-06E8-4B19-AEB8-E6957BD50750}" srcOrd="9" destOrd="0" presId="urn:microsoft.com/office/officeart/2008/layout/LinedList"/>
    <dgm:cxn modelId="{BBB3BEA1-FC70-4DE2-9A91-57EB33BF00AD}" type="presParOf" srcId="{1BF4D050-06E8-4B19-AEB8-E6957BD50750}" destId="{D26876CA-709E-4928-AAF2-4734D1DACD6D}" srcOrd="0" destOrd="0" presId="urn:microsoft.com/office/officeart/2008/layout/LinedList"/>
    <dgm:cxn modelId="{D188FA47-5832-42EC-9572-966048E3C4F5}" type="presParOf" srcId="{1BF4D050-06E8-4B19-AEB8-E6957BD50750}" destId="{88DBC881-0983-4C91-8705-CB8A16D50941}" srcOrd="1" destOrd="0" presId="urn:microsoft.com/office/officeart/2008/layout/LinedList"/>
    <dgm:cxn modelId="{D52B8AEE-6B59-47DE-96B8-D9B647AB0BD5}" type="presParOf" srcId="{573103A9-89AC-4873-8CB5-0F4B7370B2E1}" destId="{2B37DFBD-1045-417A-89DD-348147EAB4F5}" srcOrd="10" destOrd="0" presId="urn:microsoft.com/office/officeart/2008/layout/LinedList"/>
    <dgm:cxn modelId="{87CEFD5A-15D0-405F-A288-77213AA4C691}" type="presParOf" srcId="{573103A9-89AC-4873-8CB5-0F4B7370B2E1}" destId="{37DCFB0B-1A16-4C35-A117-077E4A9AB132}" srcOrd="11" destOrd="0" presId="urn:microsoft.com/office/officeart/2008/layout/LinedList"/>
    <dgm:cxn modelId="{FAE27A14-2C4C-460F-8666-684E767B4C26}" type="presParOf" srcId="{37DCFB0B-1A16-4C35-A117-077E4A9AB132}" destId="{1DE32878-1683-410B-AEEA-0DF09EA5FA62}" srcOrd="0" destOrd="0" presId="urn:microsoft.com/office/officeart/2008/layout/LinedList"/>
    <dgm:cxn modelId="{B8632CF4-76F8-45D5-970F-DC293805AC34}" type="presParOf" srcId="{37DCFB0B-1A16-4C35-A117-077E4A9AB132}" destId="{41D82D7D-82CC-403F-8FAA-7EF8B4434DBF}" srcOrd="1" destOrd="0" presId="urn:microsoft.com/office/officeart/2008/layout/LinedList"/>
    <dgm:cxn modelId="{3BCDC9A2-18EF-4657-8CC7-758895941243}" type="presParOf" srcId="{573103A9-89AC-4873-8CB5-0F4B7370B2E1}" destId="{C00E17CF-93B3-44F2-9630-42C8C4D9A573}" srcOrd="12" destOrd="0" presId="urn:microsoft.com/office/officeart/2008/layout/LinedList"/>
    <dgm:cxn modelId="{7B63E39B-EB89-4D7E-B6EB-7A2411849EDB}" type="presParOf" srcId="{573103A9-89AC-4873-8CB5-0F4B7370B2E1}" destId="{FEF2EC88-6F8F-4301-AF91-82A9E13BC377}" srcOrd="13" destOrd="0" presId="urn:microsoft.com/office/officeart/2008/layout/LinedList"/>
    <dgm:cxn modelId="{C43CD435-9D61-42E3-B13F-A9BB5E271817}" type="presParOf" srcId="{FEF2EC88-6F8F-4301-AF91-82A9E13BC377}" destId="{797037F6-2CA6-433A-BB99-F6CF6517BE03}" srcOrd="0" destOrd="0" presId="urn:microsoft.com/office/officeart/2008/layout/LinedList"/>
    <dgm:cxn modelId="{15332F65-C6CF-4E3C-9160-CE7AA1938B4B}" type="presParOf" srcId="{FEF2EC88-6F8F-4301-AF91-82A9E13BC377}" destId="{F4E6ED3E-11A2-4D61-988A-2C3FC1B420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1FC609C-DC88-4C35-AEED-9A1D896ABFBF}">
      <dgm:prSet custT="1"/>
      <dgm:spPr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r>
            <a:rPr lang="en-IN" sz="2800" dirty="0">
              <a:solidFill>
                <a:srgbClr val="FFFF00"/>
              </a:solidFill>
            </a:rPr>
            <a:t>Learning Outcome 1 : </a:t>
          </a:r>
          <a:r>
            <a:rPr lang="en-IN" sz="2800" dirty="0">
              <a:solidFill>
                <a:schemeClr val="bg1"/>
              </a:solidFill>
              <a:latin typeface="Comic Sans MS" panose="030F0702030302020204" pitchFamily="66" charset="0"/>
            </a:rPr>
            <a:t>Apply operations on list. . </a:t>
          </a:r>
        </a:p>
      </dgm:t>
    </dgm:pt>
    <dgm:pt modelId="{0EBE76BE-FEE0-4500-A9EC-D0A789918FB4}" type="parTrans" cxnId="{BE30BBE5-35D5-4F61-BB55-398D04B98AEE}">
      <dgm:prSet/>
      <dgm:spPr/>
      <dgm:t>
        <a:bodyPr/>
        <a:lstStyle/>
        <a:p>
          <a:endParaRPr lang="en-IN"/>
        </a:p>
      </dgm:t>
    </dgm:pt>
    <dgm:pt modelId="{A75C4C71-5501-4FD5-BBCF-A54D37DCF603}" type="sibTrans" cxnId="{BE30BBE5-35D5-4F61-BB55-398D04B98AEE}">
      <dgm:prSet/>
      <dgm:spPr/>
      <dgm:t>
        <a:bodyPr/>
        <a:lstStyle/>
        <a:p>
          <a:endParaRPr lang="en-IN"/>
        </a:p>
      </dgm:t>
    </dgm:pt>
    <dgm:pt modelId="{AF06061A-2E03-4F4B-AC19-A2718F74A676}">
      <dgm:prSet custT="1"/>
      <dgm:spPr/>
      <dgm:t>
        <a:bodyPr/>
        <a:lstStyle/>
        <a:p>
          <a:r>
            <a:rPr lang="en-IN" sz="2800" dirty="0">
              <a:solidFill>
                <a:srgbClr val="FFFF00"/>
              </a:solidFill>
            </a:rPr>
            <a:t>Learning Outcome 2: </a:t>
          </a:r>
          <a:r>
            <a:rPr lang="en-IN" sz="2800" dirty="0">
              <a:solidFill>
                <a:schemeClr val="bg1"/>
              </a:solidFill>
              <a:latin typeface="Comic Sans MS" panose="030F0702030302020204" pitchFamily="66" charset="0"/>
            </a:rPr>
            <a:t>Apply operations on tuples. </a:t>
          </a:r>
        </a:p>
      </dgm:t>
    </dgm:pt>
    <dgm:pt modelId="{739E5B49-7E20-4025-A3F0-03E3FA86CAAA}" type="parTrans" cxnId="{57A571AA-D051-4DF6-8BA3-7ADAD237F423}">
      <dgm:prSet/>
      <dgm:spPr/>
      <dgm:t>
        <a:bodyPr/>
        <a:lstStyle/>
        <a:p>
          <a:endParaRPr lang="en-IN"/>
        </a:p>
      </dgm:t>
    </dgm:pt>
    <dgm:pt modelId="{18B8C49D-91EB-4ECA-82D5-607A8ED63D13}" type="sibTrans" cxnId="{57A571AA-D051-4DF6-8BA3-7ADAD237F423}">
      <dgm:prSet/>
      <dgm:spPr/>
      <dgm:t>
        <a:bodyPr/>
        <a:lstStyle/>
        <a:p>
          <a:endParaRPr lang="en-IN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6800567B-E8BA-4056-BF4C-7A95F221F191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44D88BBB-38CB-469E-A6A9-728BBCFF911D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38D8FA70-234F-4000-93A9-1CC368BF0D65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B6628310-E262-47D3-9987-5CF319B76894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CEEDFE3E-BB49-433E-A23A-1124DD3224D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C65E8234-57E8-4467-A608-5C4CC58D76AF}" type="presOf" srcId="{AF06061A-2E03-4F4B-AC19-A2718F74A676}" destId="{CEEDFE3E-BB49-433E-A23A-1124DD3224D5}" srcOrd="1" destOrd="0" presId="urn:microsoft.com/office/officeart/2005/8/layout/vProcess5"/>
    <dgm:cxn modelId="{EBBB3277-4797-4719-8C82-814F0C7A2A14}" type="presOf" srcId="{11FC609C-DC88-4C35-AEED-9A1D896ABFBF}" destId="{6800567B-E8BA-4056-BF4C-7A95F221F191}" srcOrd="0" destOrd="0" presId="urn:microsoft.com/office/officeart/2005/8/layout/vProcess5"/>
    <dgm:cxn modelId="{783FF159-93D5-4BE6-B0D0-E3A231EBF48F}" type="presOf" srcId="{A75C4C71-5501-4FD5-BBCF-A54D37DCF603}" destId="{38D8FA70-234F-4000-93A9-1CC368BF0D65}" srcOrd="0" destOrd="0" presId="urn:microsoft.com/office/officeart/2005/8/layout/vProcess5"/>
    <dgm:cxn modelId="{86AB1F8A-5860-490E-9D63-88305629C8EA}" type="presOf" srcId="{AF06061A-2E03-4F4B-AC19-A2718F74A676}" destId="{44D88BBB-38CB-469E-A6A9-728BBCFF911D}" srcOrd="0" destOrd="0" presId="urn:microsoft.com/office/officeart/2005/8/layout/vProcess5"/>
    <dgm:cxn modelId="{13D463A3-517B-4394-B0A1-622F44616D9C}" type="presOf" srcId="{11FC609C-DC88-4C35-AEED-9A1D896ABFBF}" destId="{B6628310-E262-47D3-9987-5CF319B76894}" srcOrd="1" destOrd="0" presId="urn:microsoft.com/office/officeart/2005/8/layout/vProcess5"/>
    <dgm:cxn modelId="{57A571AA-D051-4DF6-8BA3-7ADAD237F423}" srcId="{B7ED251F-A7A3-4D25-B004-4241BE03EDC3}" destId="{AF06061A-2E03-4F4B-AC19-A2718F74A676}" srcOrd="1" destOrd="0" parTransId="{739E5B49-7E20-4025-A3F0-03E3FA86CAAA}" sibTransId="{18B8C49D-91EB-4ECA-82D5-607A8ED63D13}"/>
    <dgm:cxn modelId="{BE30BBE5-35D5-4F61-BB55-398D04B98AEE}" srcId="{B7ED251F-A7A3-4D25-B004-4241BE03EDC3}" destId="{11FC609C-DC88-4C35-AEED-9A1D896ABFBF}" srcOrd="0" destOrd="0" parTransId="{0EBE76BE-FEE0-4500-A9EC-D0A789918FB4}" sibTransId="{A75C4C71-5501-4FD5-BBCF-A54D37DCF603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681C2380-8893-4FCA-8BC3-DE7C26D49491}" type="presParOf" srcId="{E218E0F1-97EC-4D60-8F4A-A6E21D910199}" destId="{6800567B-E8BA-4056-BF4C-7A95F221F191}" srcOrd="1" destOrd="0" presId="urn:microsoft.com/office/officeart/2005/8/layout/vProcess5"/>
    <dgm:cxn modelId="{288B137A-F5F7-4768-ACDC-3B91BE1DD438}" type="presParOf" srcId="{E218E0F1-97EC-4D60-8F4A-A6E21D910199}" destId="{44D88BBB-38CB-469E-A6A9-728BBCFF911D}" srcOrd="2" destOrd="0" presId="urn:microsoft.com/office/officeart/2005/8/layout/vProcess5"/>
    <dgm:cxn modelId="{8A3C0978-0F3F-4CE5-90A1-EC5126829F77}" type="presParOf" srcId="{E218E0F1-97EC-4D60-8F4A-A6E21D910199}" destId="{38D8FA70-234F-4000-93A9-1CC368BF0D65}" srcOrd="3" destOrd="0" presId="urn:microsoft.com/office/officeart/2005/8/layout/vProcess5"/>
    <dgm:cxn modelId="{7EB6A589-7909-4F10-83B1-04AD04445BAB}" type="presParOf" srcId="{E218E0F1-97EC-4D60-8F4A-A6E21D910199}" destId="{B6628310-E262-47D3-9987-5CF319B76894}" srcOrd="4" destOrd="0" presId="urn:microsoft.com/office/officeart/2005/8/layout/vProcess5"/>
    <dgm:cxn modelId="{37133920-ABD4-4B28-95B1-F054EEFC2F95}" type="presParOf" srcId="{E218E0F1-97EC-4D60-8F4A-A6E21D910199}" destId="{CEEDFE3E-BB49-433E-A23A-1124DD3224D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0567B-E8BA-4056-BF4C-7A95F221F191}">
      <dsp:nvSpPr>
        <dsp:cNvPr id="0" name=""/>
        <dsp:cNvSpPr/>
      </dsp:nvSpPr>
      <dsp:spPr>
        <a:xfrm>
          <a:off x="0" y="0"/>
          <a:ext cx="9301937" cy="1725148"/>
        </a:xfrm>
        <a:prstGeom prst="roundRect">
          <a:avLst>
            <a:gd name="adj" fmla="val 10000"/>
          </a:avLst>
        </a:prstGeom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1 : </a:t>
          </a:r>
          <a:r>
            <a:rPr lang="en-IN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Apply operations on list. </a:t>
          </a:r>
        </a:p>
      </dsp:txBody>
      <dsp:txXfrm>
        <a:off x="50528" y="50528"/>
        <a:ext cx="7518861" cy="1624092"/>
      </dsp:txXfrm>
    </dsp:sp>
    <dsp:sp modelId="{44D88BBB-38CB-469E-A6A9-728BBCFF911D}">
      <dsp:nvSpPr>
        <dsp:cNvPr id="0" name=""/>
        <dsp:cNvSpPr/>
      </dsp:nvSpPr>
      <dsp:spPr>
        <a:xfrm>
          <a:off x="1641518" y="2108515"/>
          <a:ext cx="9301937" cy="1725148"/>
        </a:xfrm>
        <a:prstGeom prst="roundRect">
          <a:avLst>
            <a:gd name="adj" fmla="val 10000"/>
          </a:avLst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IN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Apply operations on tuples. </a:t>
          </a:r>
        </a:p>
      </dsp:txBody>
      <dsp:txXfrm>
        <a:off x="1692046" y="2159043"/>
        <a:ext cx="6438016" cy="1624092"/>
      </dsp:txXfrm>
    </dsp:sp>
    <dsp:sp modelId="{38D8FA70-234F-4000-93A9-1CC368BF0D65}">
      <dsp:nvSpPr>
        <dsp:cNvPr id="0" name=""/>
        <dsp:cNvSpPr/>
      </dsp:nvSpPr>
      <dsp:spPr>
        <a:xfrm>
          <a:off x="8180590" y="1356158"/>
          <a:ext cx="1121346" cy="11213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8432893" y="1356158"/>
        <a:ext cx="616740" cy="8438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1. </a:t>
          </a:r>
          <a:r>
            <a:rPr lang="en-US" sz="3600" kern="1200" dirty="0"/>
            <a:t>Introduction to Lists</a:t>
          </a:r>
          <a:r>
            <a:rPr lang="en-IN" sz="3600" kern="1200" dirty="0">
              <a:solidFill>
                <a:schemeClr val="tx1"/>
              </a:solidFill>
            </a:rPr>
            <a:t>.</a:t>
          </a:r>
          <a:endParaRPr lang="en-US" sz="3600" kern="1200" dirty="0"/>
        </a:p>
      </dsp:txBody>
      <dsp:txXfrm>
        <a:off x="0" y="675"/>
        <a:ext cx="6900512" cy="790684"/>
      </dsp:txXfrm>
    </dsp:sp>
    <dsp:sp modelId="{F83A5B86-9D43-4C81-A6D4-87875817B689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2 . Opening and Learning Outcomes. </a:t>
          </a:r>
          <a:endParaRPr lang="en-US" sz="3600" kern="1200" dirty="0"/>
        </a:p>
      </dsp:txBody>
      <dsp:txXfrm>
        <a:off x="0" y="791359"/>
        <a:ext cx="6900512" cy="790684"/>
      </dsp:txXfrm>
    </dsp:sp>
    <dsp:sp modelId="{7EE56E18-6978-43E9-9D4D-E31AA5BEE441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3. </a:t>
          </a:r>
          <a:r>
            <a:rPr lang="en-US" sz="3600" kern="1200" dirty="0"/>
            <a:t> Operations on lists.</a:t>
          </a:r>
        </a:p>
      </dsp:txBody>
      <dsp:txXfrm>
        <a:off x="0" y="1582044"/>
        <a:ext cx="6900512" cy="790684"/>
      </dsp:txXfrm>
    </dsp:sp>
    <dsp:sp modelId="{B514687E-679F-4404-A929-C733AA004539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5DC57-D848-494F-A343-6CBABA986252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4.  A1 :</a:t>
          </a:r>
          <a:endParaRPr lang="en-US" sz="3600" kern="1200" dirty="0"/>
        </a:p>
      </dsp:txBody>
      <dsp:txXfrm>
        <a:off x="0" y="2372728"/>
        <a:ext cx="6900512" cy="790684"/>
      </dsp:txXfrm>
    </dsp:sp>
    <dsp:sp modelId="{0B062B2C-FD23-461E-89A1-3ECDF7A567C2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5.</a:t>
          </a:r>
          <a:r>
            <a:rPr lang="en-US" sz="3600" kern="1200" dirty="0"/>
            <a:t> Tuples in Python</a:t>
          </a:r>
          <a:r>
            <a:rPr lang="en-IN" sz="3600" kern="1200" dirty="0"/>
            <a:t>.</a:t>
          </a:r>
          <a:endParaRPr lang="en-US" sz="3600" kern="1200" dirty="0"/>
        </a:p>
      </dsp:txBody>
      <dsp:txXfrm>
        <a:off x="0" y="3163412"/>
        <a:ext cx="6900512" cy="790684"/>
      </dsp:txXfrm>
    </dsp:sp>
    <dsp:sp modelId="{2B37DFBD-1045-417A-89DD-348147EAB4F5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32878-1683-410B-AEEA-0DF09EA5FA62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6 . A2 :</a:t>
          </a:r>
          <a:endParaRPr lang="en-US" sz="3600" kern="1200" dirty="0"/>
        </a:p>
      </dsp:txBody>
      <dsp:txXfrm>
        <a:off x="0" y="3954096"/>
        <a:ext cx="6900512" cy="790684"/>
      </dsp:txXfrm>
    </dsp:sp>
    <dsp:sp modelId="{C00E17CF-93B3-44F2-9630-42C8C4D9A573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037F6-2CA6-433A-BB99-F6CF6517BE03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7. Conclusion </a:t>
          </a:r>
          <a:r>
            <a:rPr lang="en-IN" sz="3600" kern="1200" dirty="0"/>
            <a:t>&amp; Closure</a:t>
          </a:r>
        </a:p>
      </dsp:txBody>
      <dsp:txXfrm>
        <a:off x="0" y="4744781"/>
        <a:ext cx="6900512" cy="790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0567B-E8BA-4056-BF4C-7A95F221F191}">
      <dsp:nvSpPr>
        <dsp:cNvPr id="0" name=""/>
        <dsp:cNvSpPr/>
      </dsp:nvSpPr>
      <dsp:spPr>
        <a:xfrm>
          <a:off x="0" y="0"/>
          <a:ext cx="9146328" cy="1748662"/>
        </a:xfrm>
        <a:prstGeom prst="roundRect">
          <a:avLst>
            <a:gd name="adj" fmla="val 10000"/>
          </a:avLst>
        </a:prstGeom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1 : </a:t>
          </a:r>
          <a:r>
            <a:rPr lang="en-IN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Apply operations on list. . </a:t>
          </a:r>
        </a:p>
      </dsp:txBody>
      <dsp:txXfrm>
        <a:off x="51217" y="51217"/>
        <a:ext cx="7338948" cy="1646228"/>
      </dsp:txXfrm>
    </dsp:sp>
    <dsp:sp modelId="{44D88BBB-38CB-469E-A6A9-728BBCFF911D}">
      <dsp:nvSpPr>
        <dsp:cNvPr id="0" name=""/>
        <dsp:cNvSpPr/>
      </dsp:nvSpPr>
      <dsp:spPr>
        <a:xfrm>
          <a:off x="1614057" y="2137253"/>
          <a:ext cx="9146328" cy="1748662"/>
        </a:xfrm>
        <a:prstGeom prst="roundRect">
          <a:avLst>
            <a:gd name="adj" fmla="val 10000"/>
          </a:avLst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IN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Apply operations on tuples. </a:t>
          </a:r>
        </a:p>
      </dsp:txBody>
      <dsp:txXfrm>
        <a:off x="1665274" y="2188470"/>
        <a:ext cx="6293205" cy="1646228"/>
      </dsp:txXfrm>
    </dsp:sp>
    <dsp:sp modelId="{38D8FA70-234F-4000-93A9-1CC368BF0D65}">
      <dsp:nvSpPr>
        <dsp:cNvPr id="0" name=""/>
        <dsp:cNvSpPr/>
      </dsp:nvSpPr>
      <dsp:spPr>
        <a:xfrm>
          <a:off x="8009697" y="1374642"/>
          <a:ext cx="1136630" cy="113663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8265439" y="1374642"/>
        <a:ext cx="625146" cy="855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POOJA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1119-95D6-CC62-728E-399DF7CE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840D8-BC72-CBBB-52EF-FC4572200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2B900-C185-5DBB-F23C-6B17E555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02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F23B-17DC-75CE-EA39-6684EFF4E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3F48F-1831-6F8A-F386-5C1B58EFA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709EB-8558-CEF4-9454-8A027C930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42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29A52-0851-95AC-0ABF-EE9C04B08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E6565-54DF-FE39-8FFA-AB2851882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63BA3-58BE-5D12-9760-1C498C463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373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E744C-9588-50BB-AAC9-BEB0F6D0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D15D0-97B3-2724-2F22-593B0B24C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50D5E-64C4-39B9-F80A-2DEEAC43B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606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857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E400-D07C-11FB-6F40-73CE5D16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AC5FD-C861-4C77-FB2B-B99BFCDFE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02393-4E23-72A4-71C2-B549CDC3A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181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DD63-B4C1-82DC-AD16-B539C2A3D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3F96B-B942-D621-F655-E13C8A58B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B3B75-F84B-4DEB-A6F3-C1502ECF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3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11FF8-6F51-F8C6-6002-E9FA5325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EE7D4-484D-14F8-1567-B38C13EEB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9FA4E-2E0F-957C-0EA3-F9D6AB02B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16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3CFA3-EA4B-FE43-6223-44F9056E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CB8C8-4786-3E5A-F7B8-084F8163B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35F85-A580-2DAD-9CCC-700BD11ED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833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FD06F-758B-6F25-0458-2C2A042A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5CD93-9057-48F5-43AA-5D905540E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206FF-AA70-E0D2-F910-9A0751607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404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9608-9C37-B623-F558-60E91C3F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C51F8-E056-174D-3B9A-AD1B7FA6E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7DB29-C975-3CB5-0587-44D0D58AC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560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993AC3B-8BB0-72DF-2954-3A9413BF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E9C7F-36D7-721E-1936-E2EC20C4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97ACA0A-AFD7-520C-AF50-DB7043D9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46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1933C37-F5DA-BFCD-2AB6-1B9F3350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D23D35-2380-76AC-63A9-D056394B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03DF53-9AA4-A1DC-AB9D-387F5E56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08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ABB2E-CFA1-AEE8-0780-A1662A73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82F77-BB19-0351-CF6A-DEBD85F7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2AF23-B428-A508-DB8C-EE44FC1D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36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73836C0-62B0-4CAF-CE45-02D9AC03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12D9F3-C6CA-9C2B-826E-4B8C69369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4CBF44-8787-84F8-8CFC-FB59AD99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33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97FFC1F-0452-584B-D8E1-AE72A3F1B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F92AC41-12B3-A91B-CB7D-587D8FC8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6A1BAAA-44FE-CB4B-766E-3E352118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8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A1BBFB-842B-3470-D2B6-C78A0B80E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023220-CFEA-6FA4-F387-25257EC48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24893B7-F89C-4640-D263-5F66CD92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9D88B0C-ADF0-4AE2-4FD8-017C14C2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F8AE3E-832F-525B-0D3E-7EF70660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09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C61A281-BCA5-E72C-77B7-147322BDF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D3022A9-33D0-3073-D816-1C34FA1D9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EE62296-CD4E-8FD7-C9BD-6DE7A356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E6B98BC-A90C-5472-3F9B-D66F1594B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1C416B4-4E88-5D5D-2A9F-43DA44BE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65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0855A47-CFED-6003-31EC-A7B1D572C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B031857-C2CD-F03E-3762-548FC7A6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5F9737E-0F20-98C1-CF93-73CA9F4D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952C4AB-6436-CD4F-31D0-D7F0C7AF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2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33AF243-EEE8-15D4-B9D0-D398DB577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96BA464-DD16-61AA-3061-D4AE1F59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D1A456B-B851-1A11-9A3C-6663BA7E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5DD979-FA66-79A4-0616-82FE58282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93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78D6B68-932B-8B32-18AE-9529C3D8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E2B4FCD-4175-0C27-251B-291F1AE9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534B1EC-7C10-627B-5DE4-84B35FCEC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157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3F69423-E6B9-F487-F0DB-08BCE911C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DBB2133-0311-13A2-799F-8A7230C3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9084C2E-A0B4-F370-C092-55721291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943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97C61C0-BCEF-7249-C601-258C38988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D63DE27-3977-F745-A955-07844DE915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4599C78-0CC5-BD61-6E10-0C9E34AADD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786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9C23712-907B-F3AD-519D-6CDBB0F2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2DB105C-701A-141A-E040-765627D8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C407705-B8E5-5DB2-ACB5-50F92E6CA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230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B03F94-6E23-3649-CEAE-F3F5C6D5EA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69CC95-DA94-A1B3-A894-900A512C4F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2F4001-BD5F-946B-1D85-155B712C9A2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803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C88D2-6F7B-7940-DC18-CA0DD3F1B3F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E56C7-0731-094E-2657-2F69BDDA065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DAC601-3BA1-665F-E37B-20CEC092CA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84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529C0-43AA-320F-6524-C1BEE0F25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224F3F-0C20-A5D0-06DB-3AA7BF92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E1901-B7D1-22A1-CA84-D9ED3AAF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55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5D4AE1-1F43-7B0A-F014-83B18F72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BD6A6-6B13-582E-7546-651FD4B01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14719F-305F-264B-F4C4-38C066EE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149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5C6EA-CC72-7503-F2FD-B62E9A4572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9085A21-D7DC-860A-0531-F7DF76979B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813" y="149187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1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09381" y="5911327"/>
            <a:ext cx="739184" cy="629322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975D1-7BA1-AA39-E6A6-4C2BD5621C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61E1F-F2D4-CA8F-16FC-D818D50F6D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3487" y="6356350"/>
            <a:ext cx="2307515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5790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EBC89-6430-72ED-6543-B9C719ED7D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80DB3-68C1-8C9D-618C-10479642A1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345" y="6356350"/>
            <a:ext cx="2337507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674E5-FC49-8817-6138-526DAFDE5C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8259" y="5969000"/>
            <a:ext cx="457200" cy="2794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4121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1DAF93-1CBA-7B88-4CBA-FD063FCA8A3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9152D-2767-A6B6-0ABE-E9F9BCA5AF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339788" cy="410780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6C530D-C5D9-3A8E-BFEE-D5C03A9549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39773" y="6336254"/>
            <a:ext cx="484095" cy="398032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356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96645" y="6164132"/>
            <a:ext cx="935783" cy="419548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90A00-86AF-E915-BEEE-2133D086934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719EE-0FDC-CA1B-D322-99BA4F6373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53324" y="6438452"/>
            <a:ext cx="2412145" cy="419548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0769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88683" y="6123709"/>
            <a:ext cx="798022" cy="653935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5EAB7-6276-36DC-3569-037D8F05A57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D52D5-44CE-44E1-A11B-A5ACA30ADFB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415988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76B52-A0C4-2157-90BB-918EC9BC93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142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257878" y="6104965"/>
            <a:ext cx="780795" cy="50560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CA864-09E2-0E82-C92B-2CA90A12F04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336EF-CFE6-B577-3274-CF41EA6D92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316339" cy="419548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86693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CDE17-F158-2784-2CCE-B8AC65C9D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1" y="6356350"/>
            <a:ext cx="2312893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02BBF-A77B-3676-9044-25220DBC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1417" y="5981253"/>
            <a:ext cx="977322" cy="740222"/>
          </a:xfrm>
        </p:spPr>
        <p:txBody>
          <a:bodyPr/>
          <a:lstStyle>
            <a:lvl1pPr>
              <a:defRPr sz="1300" baseline="0"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4697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19" y="6126480"/>
            <a:ext cx="455967" cy="623944"/>
          </a:xfrm>
        </p:spPr>
        <p:txBody>
          <a:bodyPr/>
          <a:lstStyle>
            <a:lvl1pPr>
              <a:defRPr sz="1600" baseline="0">
                <a:solidFill>
                  <a:srgbClr val="FF0000"/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941A6-37BC-896C-B3FF-EC1F316F7F1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EEA00-72D2-A7ED-347F-60AC51655E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3346" y="6524512"/>
            <a:ext cx="2396674" cy="33348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76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0964" y="-134739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271D362-1D04-1937-57E2-85DC10EC7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80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23" r:id="rId25"/>
    <p:sldLayoutId id="2147483724" r:id="rId26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8.jpe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8.jpeg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6" Type="http://schemas.openxmlformats.org/officeDocument/2006/relationships/hyperlink" Target="https://www.w3schools.com/python/python_dictionaries.asp" TargetMode="External"/><Relationship Id="rId5" Type="http://schemas.openxmlformats.org/officeDocument/2006/relationships/hyperlink" Target="https://www.w3schools.com/python/python_sets.asp" TargetMode="External"/><Relationship Id="rId4" Type="http://schemas.openxmlformats.org/officeDocument/2006/relationships/hyperlink" Target="https://www.w3schools.com/python/python_tuples.asp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www.w3schools.com/python/python_lists_methods.asp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4.pn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6.png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www.w3schools.com/python/python_dictionaries.asp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www.w3schools.com/python/python_sets.asp" TargetMode="External"/><Relationship Id="rId5" Type="http://schemas.openxmlformats.org/officeDocument/2006/relationships/hyperlink" Target="https://www.w3schools.com/python/python_tuples.asp" TargetMode="External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8.jpeg"/><Relationship Id="rId9" Type="http://schemas.microsoft.com/office/2007/relationships/diagramDrawing" Target="../diagrams/drawing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7.png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Lists, Tuples, Sets, Dictionary</a:t>
            </a:r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85C8FCE-D8B6-E820-DD1E-49ADD8DEA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732" y="125638"/>
            <a:ext cx="1190469" cy="11904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D13C77-5584-2E97-6EAE-6617012A8968}"/>
              </a:ext>
            </a:extLst>
          </p:cNvPr>
          <p:cNvSpPr txBox="1"/>
          <p:nvPr/>
        </p:nvSpPr>
        <p:spPr>
          <a:xfrm>
            <a:off x="7519662" y="4738000"/>
            <a:ext cx="47253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 Python Programming</a:t>
            </a:r>
            <a:b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- E1UA311C</a:t>
            </a:r>
            <a:b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 </a:t>
            </a:r>
            <a:r>
              <a:rPr lang="en-IN" sz="1400" dirty="0">
                <a:solidFill>
                  <a:srgbClr val="7030A0"/>
                </a:solidFill>
                <a:latin typeface="Roboto" panose="02000000000000000000" pitchFamily="2" charset="0"/>
              </a:rPr>
              <a:t>Pooja Vajpayee</a:t>
            </a:r>
            <a:br>
              <a:rPr lang="en-IN" sz="1400" dirty="0">
                <a:solidFill>
                  <a:srgbClr val="7030A0"/>
                </a:solidFill>
                <a:latin typeface="Roboto" panose="02000000000000000000" pitchFamily="2" charset="0"/>
              </a:rPr>
            </a:br>
            <a:r>
              <a:rPr lang="en-US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 </a:t>
            </a:r>
            <a:r>
              <a:rPr lang="en-US" sz="1400" dirty="0">
                <a:solidFill>
                  <a:srgbClr val="7030A0"/>
                </a:solidFill>
                <a:latin typeface="Roboto" panose="02000000000000000000" pitchFamily="2" charset="0"/>
              </a:rPr>
              <a:t>50 Mins</a:t>
            </a:r>
            <a:br>
              <a:rPr lang="en-US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  <a:latin typeface="Roboto" panose="02000000000000000000" pitchFamily="2" charset="0"/>
              </a:rPr>
            </a:br>
            <a:endParaRPr lang="en-IN" sz="1400" dirty="0">
              <a:solidFill>
                <a:srgbClr val="7030A0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10" y="193104"/>
            <a:ext cx="8127369" cy="1238368"/>
          </a:xfrm>
        </p:spPr>
        <p:txBody>
          <a:bodyPr/>
          <a:lstStyle/>
          <a:p>
            <a: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  <a:t> </a:t>
            </a: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br>
              <a:rPr lang="en-US" sz="3600" b="1" kern="12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  <a:ea typeface="+mj-ea"/>
                <a:cs typeface="+mj-cs"/>
              </a:rPr>
            </a:b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  <a:cs typeface="+mj-cs"/>
              </a:rPr>
              <a:t>Review of the key concepts of last session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2782-E3D5-8846-39AF-1863B1CFD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6395856"/>
            <a:ext cx="1642353" cy="41954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A5C4B-2FEE-2678-03E2-9B817E1AA6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53324" y="6438452"/>
            <a:ext cx="2677498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AutoShape 2" descr="Machine learning outlet real life applications">
            <a:extLst>
              <a:ext uri="{FF2B5EF4-FFF2-40B4-BE49-F238E27FC236}">
                <a16:creationId xmlns:a16="http://schemas.microsoft.com/office/drawing/2014/main" id="{0DFC41C2-8CEC-4727-4DE3-E1ABAEF3A0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2CB5F4-42D1-F03B-8BEA-48CEA1118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05CAC3C-2318-EC8A-2E48-8DCFD24267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865" y="556740"/>
            <a:ext cx="874732" cy="8747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5050FF-A130-B7EA-44B7-CB5130419925}"/>
              </a:ext>
            </a:extLst>
          </p:cNvPr>
          <p:cNvSpPr txBox="1"/>
          <p:nvPr/>
        </p:nvSpPr>
        <p:spPr>
          <a:xfrm>
            <a:off x="2765919" y="2288840"/>
            <a:ext cx="81273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Python is a high-level, interpreted, and easy-to-learn programming language.</a:t>
            </a:r>
          </a:p>
          <a:p>
            <a:endParaRPr lang="en-US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2. Names used for variables, functions, and classes, following specific naming rules.</a:t>
            </a:r>
          </a:p>
          <a:p>
            <a:endParaRPr lang="en-US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3. Containers for storing data, dynamically typed without explicit declaration.</a:t>
            </a:r>
          </a:p>
          <a:p>
            <a:endParaRPr lang="en-US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4. Performance of loops, break and continue</a:t>
            </a:r>
            <a:endParaRPr lang="en-IN" dirty="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5FA9-6EC0-5772-5450-FC3CD4E50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732248"/>
            <a:ext cx="7894509" cy="4309736"/>
          </a:xfrm>
        </p:spPr>
        <p:txBody>
          <a:bodyPr/>
          <a:lstStyle/>
          <a:p>
            <a:r>
              <a:rPr lang="en-US" dirty="0"/>
              <a:t>💡   </a:t>
            </a:r>
            <a:r>
              <a:rPr lang="en-US" b="1" dirty="0"/>
              <a:t>"</a:t>
            </a:r>
            <a:r>
              <a:rPr lang="en-US" dirty="0"/>
              <a:t>How would you save multiple values in a single variable </a:t>
            </a:r>
            <a:r>
              <a:rPr lang="en-US" b="1" dirty="0"/>
              <a:t>"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802B9-5171-F7A0-775B-AC6C9B701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9B183-A48D-A7C8-9ECC-B370179225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D8D2AF-C560-7648-AB9C-0AF4AB05B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86" y="559974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EEEDE06-D284-B09B-B77A-C8BECEEA2C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95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3719E-5093-51ED-6170-B3AB02ED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1116-A2B0-7D78-595C-5E553BBE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9882335" cy="862397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At the end of this session students will be able to </a:t>
            </a: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5135A-AC96-F93F-6AC3-06951733299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48865" y="6099786"/>
            <a:ext cx="920078" cy="64178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4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C31B1-E024-809F-CD08-FE4ACAE2366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A5FE3F-EF66-199F-5997-452F7820F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11" y="41078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7C1312B-286D-382C-F44D-21FF76FBEA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076" y="183724"/>
            <a:ext cx="874732" cy="874732"/>
          </a:xfrm>
          <a:prstGeom prst="rect">
            <a:avLst/>
          </a:prstGeom>
        </p:spPr>
      </p:pic>
      <p:graphicFrame>
        <p:nvGraphicFramePr>
          <p:cNvPr id="7" name="Title 1">
            <a:extLst>
              <a:ext uri="{FF2B5EF4-FFF2-40B4-BE49-F238E27FC236}">
                <a16:creationId xmlns:a16="http://schemas.microsoft.com/office/drawing/2014/main" id="{6B10EE8D-B4B5-66D5-0CDE-0E8FA7216C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2394683"/>
              </p:ext>
            </p:extLst>
          </p:nvPr>
        </p:nvGraphicFramePr>
        <p:xfrm>
          <a:off x="613386" y="2266123"/>
          <a:ext cx="10943456" cy="3833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92292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66F82-479D-092A-2FA7-4FBFA5A9E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C9F83-5003-0F4A-398B-44A1BF1FFB5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353901" y="6404624"/>
            <a:ext cx="1732082" cy="410780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5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43B7D-1BBB-D70F-39AA-8ED3326A8B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4A2C2C-E16E-7706-87FC-A9935D6C1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87" y="617318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Session Outline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15A284-FE57-4D43-4EF1-3FEB48F7B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23" y="428727"/>
            <a:ext cx="2215421" cy="612478"/>
          </a:xfrm>
          <a:prstGeom prst="rect">
            <a:avLst/>
          </a:prstGeom>
        </p:spPr>
      </p:pic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A6F37EF-E43F-C8DB-8A2D-90DD3C5F04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2095" y="193015"/>
            <a:ext cx="874732" cy="874732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B67CA83-328F-3A70-34D2-B9F692D479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661649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038630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58BCF-6D95-5187-61C5-71456B016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80DBA9-D3FC-A317-FC1C-EA54461EC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D49D4-5376-852C-8DF0-E373DDC287A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65753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A3AE1A9-FB06-D60E-A577-AD78BCFCB8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547FDC-8BE7-D00B-0365-35E957578D2B}"/>
              </a:ext>
            </a:extLst>
          </p:cNvPr>
          <p:cNvSpPr txBox="1"/>
          <p:nvPr/>
        </p:nvSpPr>
        <p:spPr>
          <a:xfrm>
            <a:off x="3447458" y="789451"/>
            <a:ext cx="790018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Python Collections (Arrays)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endParaRPr lang="en-US" sz="2400" b="0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There are four </a:t>
            </a:r>
            <a:r>
              <a:rPr lang="en-US" b="0" i="0" u="sng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collection data types 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in the Python programming language:</a:t>
            </a:r>
          </a:p>
          <a:p>
            <a:pPr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sng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List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 is a collection which is ordered and changeable. Allows duplicate members.</a:t>
            </a:r>
          </a:p>
          <a:p>
            <a:pPr algn="l"/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Tuple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 is a collection which is ordered and unchangeable. Allows duplicate members.</a:t>
            </a:r>
          </a:p>
          <a:p>
            <a:pPr algn="l"/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 is a collection which is unordered, unchangeable, and unindexed.    </a:t>
            </a:r>
          </a:p>
          <a:p>
            <a:pPr algn="l"/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 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No duplicate members.</a:t>
            </a:r>
          </a:p>
          <a:p>
            <a:pPr algn="l"/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Dictionary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 is a collection which is ordered and changeable.                  </a:t>
            </a:r>
          </a:p>
          <a:p>
            <a:pPr algn="l"/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 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No duplicate members.</a:t>
            </a:r>
          </a:p>
        </p:txBody>
      </p:sp>
    </p:spTree>
    <p:extLst>
      <p:ext uri="{BB962C8B-B14F-4D97-AF65-F5344CB8AC3E}">
        <p14:creationId xmlns:p14="http://schemas.microsoft.com/office/powerpoint/2010/main" val="184043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413" y="1670957"/>
            <a:ext cx="6369614" cy="412977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IN" sz="1800" dirty="0">
                <a:latin typeface="Comic Sans MS" panose="030F0702030302020204" pitchFamily="66" charset="0"/>
              </a:rPr>
            </a:br>
            <a:br>
              <a:rPr lang="en-IN" sz="1800" dirty="0">
                <a:latin typeface="Comic Sans MS" panose="030F0702030302020204" pitchFamily="66" charset="0"/>
              </a:rPr>
            </a:br>
            <a:br>
              <a:rPr lang="en-US" sz="1800" b="1" kern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1800" b="1" kern="12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 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202076" y="-764130"/>
            <a:ext cx="4344695" cy="602751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22E67C-0B27-4CE5-5B38-C6473D589F7C}"/>
              </a:ext>
            </a:extLst>
          </p:cNvPr>
          <p:cNvSpPr txBox="1"/>
          <p:nvPr/>
        </p:nvSpPr>
        <p:spPr>
          <a:xfrm>
            <a:off x="4546771" y="374847"/>
            <a:ext cx="692014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200" b="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List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endParaRPr lang="en-US" sz="2000" b="0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70C0"/>
                </a:solidFill>
                <a:effectLst/>
                <a:latin typeface="Comic Sans MS" panose="030F0702030302020204" pitchFamily="66" charset="0"/>
              </a:rPr>
              <a:t>Lists are used to store multiple items in a single variable.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0070C0"/>
              </a:solidFill>
              <a:effectLst/>
              <a:latin typeface="Comic Sans MS" panose="030F0702030302020204" pitchFamily="66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70C0"/>
                </a:solidFill>
                <a:effectLst/>
                <a:latin typeface="Comic Sans MS" panose="030F0702030302020204" pitchFamily="66" charset="0"/>
              </a:rPr>
              <a:t>Lists are built-in data types in Python used to store collections of data.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0070C0"/>
              </a:solidFill>
              <a:effectLst/>
              <a:latin typeface="Comic Sans MS" panose="030F0702030302020204" pitchFamily="66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70C0"/>
                </a:solidFill>
                <a:effectLst/>
                <a:latin typeface="Comic Sans MS" panose="030F0702030302020204" pitchFamily="66" charset="0"/>
              </a:rPr>
              <a:t>Lists are created using square brackets: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apple"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"cherry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dirty="0"/>
            </a:br>
            <a:r>
              <a:rPr lang="en-US" dirty="0"/>
              <a:t>                  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285750" lvl="0" indent="-28575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A list can contain different data types: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</a:rPr>
              <a:t>       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list1 = [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lvl="0">
              <a:buSzPts val="1000"/>
              <a:tabLst>
                <a:tab pos="457200" algn="l"/>
              </a:tabLst>
            </a:pPr>
            <a:endParaRPr lang="en-US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pPr marL="285750" indent="-28575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solidFill>
                  <a:srgbClr val="00B050"/>
                </a:solidFill>
                <a:latin typeface="Comic Sans MS" panose="030F0702030302020204" pitchFamily="66" charset="0"/>
              </a:rPr>
              <a:t>List items are indexed, the first item has index [0], the second item has index [1] etc.</a:t>
            </a:r>
          </a:p>
          <a:p>
            <a:pPr lvl="0">
              <a:buSzPts val="1000"/>
              <a:tabLst>
                <a:tab pos="457200" algn="l"/>
              </a:tabLst>
            </a:pPr>
            <a:endParaRPr lang="en-US" dirty="0">
              <a:solidFill>
                <a:srgbClr val="00B050"/>
              </a:solidFill>
              <a:latin typeface="Comic Sans MS" panose="030F0702030302020204" pitchFamily="66" charset="0"/>
            </a:endParaRPr>
          </a:p>
          <a:p>
            <a:pPr marL="285750" lvl="0" indent="-28575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>
                <a:solidFill>
                  <a:srgbClr val="00B050"/>
                </a:solidFill>
                <a:latin typeface="Comic Sans MS" panose="030F0702030302020204" pitchFamily="66" charset="0"/>
              </a:rPr>
              <a:t>List items are ordered, changeable, and allow duplicate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AD204-F28B-9C83-7BF1-B49AD5EEA93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83145" y="6167940"/>
            <a:ext cx="1453953" cy="64746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7</a:t>
            </a:fld>
            <a:endParaRPr lang="en-US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0EF01-9951-83CC-072F-55BA2935F36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345" y="6356350"/>
            <a:ext cx="265766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5D677-3055-D0F7-9897-A9B94D91D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18634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D7D7916-EB18-CEDE-096A-34B20EBE81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923" y="253243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3FD6-AC93-DFFA-D6D8-5B516AD19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DAC3A7-35C4-F83E-FFFB-A398F75E5A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9E14F-EB7C-4769-7456-8C87CA78998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65753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07A41F6-8C5C-24EB-18DD-02822E8F8A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9829AF-68CB-149E-66A0-B2B7E30E3F0A}"/>
              </a:ext>
            </a:extLst>
          </p:cNvPr>
          <p:cNvSpPr txBox="1"/>
          <p:nvPr/>
        </p:nvSpPr>
        <p:spPr>
          <a:xfrm>
            <a:off x="3492894" y="573630"/>
            <a:ext cx="7795789" cy="417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Comic Sans MS" panose="030F0702030302020204" pitchFamily="66" charset="0"/>
              </a:rPr>
              <a:t>When we say that lists are ordered, it means that the items        have a defined order, and that order will not change.</a:t>
            </a:r>
          </a:p>
          <a:p>
            <a:endParaRPr lang="en-US" dirty="0">
              <a:solidFill>
                <a:srgbClr val="00B050"/>
              </a:solidFill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Comic Sans MS" panose="030F0702030302020204" pitchFamily="66" charset="0"/>
              </a:rPr>
              <a:t>If you add new items to a list, the new items will be placed at the end of the list.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Note: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There are some 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 methods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 that will change the order, but in general: the order of the items will not change.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The list is changeable, meaning that we can change, add, and remove items in a list after it has been created.</a:t>
            </a:r>
          </a:p>
          <a:p>
            <a:pPr algn="l"/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Since lists are indexed, lists can have items with the same value: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      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 = [</a:t>
            </a:r>
            <a:r>
              <a:rPr lang="en-US" b="0" i="0" dirty="0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, </a:t>
            </a:r>
            <a:r>
              <a:rPr lang="en-US" b="0" i="0" dirty="0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, </a:t>
            </a:r>
            <a:r>
              <a:rPr lang="en-US" b="0" i="0" dirty="0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"cherry"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, </a:t>
            </a:r>
            <a:r>
              <a:rPr lang="en-US" b="0" i="0" dirty="0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, </a:t>
            </a:r>
            <a:r>
              <a:rPr lang="en-US" b="0" i="0" dirty="0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"cherry"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]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          </a:t>
            </a:r>
            <a:r>
              <a:rPr lang="en-US" b="0" i="0" dirty="0">
                <a:solidFill>
                  <a:srgbClr val="005CC5"/>
                </a:solidFill>
                <a:effectLst/>
                <a:latin typeface="Comic Sans MS" panose="030F0702030302020204" pitchFamily="66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30663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9FF66E-2197-9B03-DE74-F1A91EAC4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01A4C-201D-9E09-E660-51348A5B74F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65753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EAD4A79-9755-B2EA-6C64-79D27FB380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2F498B-3B15-B601-EAEF-AC8CD9BC3E32}"/>
              </a:ext>
            </a:extLst>
          </p:cNvPr>
          <p:cNvSpPr txBox="1"/>
          <p:nvPr/>
        </p:nvSpPr>
        <p:spPr>
          <a:xfrm>
            <a:off x="3697356" y="653143"/>
            <a:ext cx="71107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To determine how many items a list has, use the </a:t>
            </a:r>
            <a:r>
              <a:rPr lang="en-US" dirty="0" err="1">
                <a:solidFill>
                  <a:srgbClr val="92D050"/>
                </a:solidFill>
                <a:latin typeface="Comic Sans MS" panose="030F0702030302020204" pitchFamily="66" charset="0"/>
              </a:rPr>
              <a:t>len</a:t>
            </a:r>
            <a:r>
              <a:rPr lang="en-US" dirty="0">
                <a:solidFill>
                  <a:srgbClr val="92D050"/>
                </a:solidFill>
                <a:latin typeface="Comic Sans MS" panose="030F0702030302020204" pitchFamily="66" charset="0"/>
              </a:rPr>
              <a:t>() </a:t>
            </a: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function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lists are defined as objects with the data type 'list’:</a:t>
            </a:r>
          </a:p>
          <a:p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                </a:t>
            </a:r>
            <a:r>
              <a:rPr lang="en-IN" dirty="0">
                <a:solidFill>
                  <a:srgbClr val="7030A0"/>
                </a:solidFill>
                <a:latin typeface="Comic Sans MS" panose="030F0702030302020204" pitchFamily="66" charset="0"/>
              </a:rPr>
              <a:t>print(type(list1))</a:t>
            </a:r>
          </a:p>
          <a:p>
            <a:r>
              <a:rPr lang="en-IN" dirty="0">
                <a:solidFill>
                  <a:srgbClr val="7030A0"/>
                </a:solidFill>
                <a:latin typeface="Comic Sans MS" panose="030F0702030302020204" pitchFamily="66" charset="0"/>
              </a:rPr>
              <a:t>                 &lt;class 'list’&gt;   </a:t>
            </a:r>
            <a:r>
              <a:rPr lang="en-IN" dirty="0">
                <a:solidFill>
                  <a:srgbClr val="92D050"/>
                </a:solidFill>
                <a:latin typeface="Comic Sans MS" panose="030F0702030302020204" pitchFamily="66" charset="0"/>
              </a:rPr>
              <a:t>#output</a:t>
            </a:r>
            <a:endParaRPr lang="en-US" dirty="0">
              <a:solidFill>
                <a:srgbClr val="92D05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4" y="1351722"/>
            <a:ext cx="7796464" cy="87464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Learning Activity 1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3AA8E-2D4F-F1F8-165E-1A896DEA1A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38FFB-A0BF-F698-37C1-7384515379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3254C-A306-938E-24AC-3C807AEE7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48" y="457199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1ABE2697-097D-0FAA-2255-1A36B83A93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927A8C-0FAE-FF48-D0B2-DB212FD97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4723" y="2226364"/>
            <a:ext cx="4589038" cy="36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99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5046C-7645-DEC7-7761-40E244546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CEC0E-CF44-1A18-8E7A-523CAF69E1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3346" y="6406480"/>
            <a:ext cx="2617906" cy="451517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D02201-A04F-A0BA-0FFE-492F6F74D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23" y="78276"/>
            <a:ext cx="2215421" cy="378923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5A510B1-7F4B-4D4D-BFF9-C42A72F3C2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5990" y="87822"/>
            <a:ext cx="874732" cy="8747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497C58-F6DC-C52B-C87D-91C74A057AC5}"/>
              </a:ext>
            </a:extLst>
          </p:cNvPr>
          <p:cNvSpPr txBox="1"/>
          <p:nvPr/>
        </p:nvSpPr>
        <p:spPr>
          <a:xfrm>
            <a:off x="443346" y="2424507"/>
            <a:ext cx="8662317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917B35-77DF-67F0-A956-5B818CA5F340}"/>
              </a:ext>
            </a:extLst>
          </p:cNvPr>
          <p:cNvSpPr txBox="1"/>
          <p:nvPr/>
        </p:nvSpPr>
        <p:spPr>
          <a:xfrm>
            <a:off x="528194" y="658822"/>
            <a:ext cx="8577468" cy="561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Tuple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Tuples are used to store multiple items in a single variable.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Tuple is built-in data types in Python used to store collections of data.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A tuple is a collection which is ordered and </a:t>
            </a:r>
            <a:r>
              <a:rPr lang="en-US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unchangeable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Tuples are written with round brackets.</a:t>
            </a:r>
          </a:p>
          <a:p>
            <a:pPr algn="l"/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               </a:t>
            </a:r>
            <a:r>
              <a:rPr lang="en-US" b="0" i="0" dirty="0" err="1">
                <a:solidFill>
                  <a:schemeClr val="accent4"/>
                </a:solidFill>
                <a:effectLst/>
                <a:latin typeface="Comic Sans MS" panose="030F0702030302020204" pitchFamily="66" charset="0"/>
              </a:rPr>
              <a:t>thistuple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 = </a:t>
            </a:r>
            <a:r>
              <a:rPr lang="en-US" b="0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("apple", "banana", "cherry")</a:t>
            </a:r>
            <a:b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</a:b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               </a:t>
            </a:r>
            <a:r>
              <a:rPr lang="en-US" b="0" i="0" dirty="0">
                <a:solidFill>
                  <a:srgbClr val="0070C0"/>
                </a:solidFill>
                <a:effectLst/>
                <a:latin typeface="Comic Sans MS" panose="030F0702030302020204" pitchFamily="66" charset="0"/>
              </a:rPr>
              <a:t>print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(</a:t>
            </a:r>
            <a:r>
              <a:rPr lang="en-US" dirty="0" err="1">
                <a:solidFill>
                  <a:schemeClr val="accent4"/>
                </a:solidFill>
                <a:latin typeface="Comic Sans MS" panose="030F0702030302020204" pitchFamily="66" charset="0"/>
              </a:rPr>
              <a:t>thistuple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)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Tuple items are ordered, unchangeable, and allow duplicate values.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Tuple items are indexed, the first item has index [0], the second item has index [1] etc.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rgbClr val="7030A0"/>
              </a:solidFill>
              <a:latin typeface="Comic Sans MS" panose="030F0702030302020204" pitchFamily="66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When we say that tuples are ordered, it means that the items have a defined order, and that order will not change.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04" y="1329005"/>
            <a:ext cx="10734261" cy="4712980"/>
          </a:xfrm>
        </p:spPr>
        <p:txBody>
          <a:bodyPr>
            <a:normAutofit fontScale="25000" lnSpcReduction="20000"/>
          </a:bodyPr>
          <a:lstStyle/>
          <a:p>
            <a:pPr algn="l"/>
            <a:endParaRPr lang="en-US" sz="1100" b="0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857250" indent="-857250">
              <a:buFont typeface="Wingdings" panose="05000000000000000000" pitchFamily="2" charset="2"/>
              <a:buChar char="q"/>
            </a:pP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Tuples are unchangeable, meaning that we cannot change, add or remove items after the tuple has been created.</a:t>
            </a:r>
          </a:p>
          <a:p>
            <a:pPr marL="857250" indent="-857250">
              <a:buFont typeface="Wingdings" panose="05000000000000000000" pitchFamily="2" charset="2"/>
              <a:buChar char="q"/>
            </a:pP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Since tuples are indexed, they can have items with the same value:</a:t>
            </a:r>
          </a:p>
          <a:p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                            </a:t>
            </a:r>
            <a:r>
              <a:rPr lang="en-US" sz="6400" dirty="0" err="1">
                <a:solidFill>
                  <a:schemeClr val="accent4"/>
                </a:solidFill>
                <a:latin typeface="Comic Sans MS" panose="030F0702030302020204" pitchFamily="66" charset="0"/>
              </a:rPr>
              <a:t>thistuple</a:t>
            </a: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 = </a:t>
            </a:r>
            <a:r>
              <a:rPr lang="en-US" sz="6400" dirty="0">
                <a:solidFill>
                  <a:srgbClr val="00B050"/>
                </a:solidFill>
                <a:latin typeface="Comic Sans MS" panose="030F0702030302020204" pitchFamily="66" charset="0"/>
              </a:rPr>
              <a:t>("apple", "banana", "cherry", "apple", "cherry")</a:t>
            </a:r>
            <a:b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</a:b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                            </a:t>
            </a:r>
            <a:r>
              <a:rPr lang="en-US" sz="6400" dirty="0">
                <a:solidFill>
                  <a:srgbClr val="00B0F0"/>
                </a:solidFill>
                <a:latin typeface="Comic Sans MS" panose="030F0702030302020204" pitchFamily="66" charset="0"/>
              </a:rPr>
              <a:t>print</a:t>
            </a: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(</a:t>
            </a:r>
            <a:r>
              <a:rPr lang="en-US" sz="6400" dirty="0" err="1">
                <a:solidFill>
                  <a:schemeClr val="accent4"/>
                </a:solidFill>
                <a:latin typeface="Comic Sans MS" panose="030F0702030302020204" pitchFamily="66" charset="0"/>
              </a:rPr>
              <a:t>thistuple</a:t>
            </a: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)</a:t>
            </a:r>
          </a:p>
          <a:p>
            <a:pPr marL="857250" indent="-857250">
              <a:buFont typeface="Wingdings" panose="05000000000000000000" pitchFamily="2" charset="2"/>
              <a:buChar char="q"/>
            </a:pP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To determine how many items a tuple has, use the </a:t>
            </a:r>
            <a:r>
              <a:rPr lang="en-US" sz="6400" dirty="0" err="1">
                <a:solidFill>
                  <a:srgbClr val="7030A0"/>
                </a:solidFill>
                <a:latin typeface="Comic Sans MS" panose="030F0702030302020204" pitchFamily="66" charset="0"/>
              </a:rPr>
              <a:t>len</a:t>
            </a: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 () function .</a:t>
            </a:r>
          </a:p>
          <a:p>
            <a:r>
              <a:rPr lang="en-US" sz="6400" dirty="0">
                <a:solidFill>
                  <a:schemeClr val="accent4"/>
                </a:solidFill>
                <a:latin typeface="Comic Sans MS" panose="030F0702030302020204" pitchFamily="66" charset="0"/>
              </a:rPr>
              <a:t>                            </a:t>
            </a:r>
            <a:r>
              <a:rPr lang="en-US" sz="6400" dirty="0" err="1">
                <a:solidFill>
                  <a:schemeClr val="accent4"/>
                </a:solidFill>
                <a:latin typeface="Comic Sans MS" panose="030F0702030302020204" pitchFamily="66" charset="0"/>
              </a:rPr>
              <a:t>thistuple</a:t>
            </a:r>
            <a:r>
              <a:rPr lang="en-US" sz="6400" dirty="0">
                <a:solidFill>
                  <a:schemeClr val="accent4"/>
                </a:solidFill>
                <a:latin typeface="Comic Sans MS" panose="030F0702030302020204" pitchFamily="66" charset="0"/>
              </a:rPr>
              <a:t> </a:t>
            </a: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= </a:t>
            </a:r>
            <a:r>
              <a:rPr lang="en-US" sz="6400" dirty="0">
                <a:solidFill>
                  <a:srgbClr val="00B050"/>
                </a:solidFill>
                <a:latin typeface="Comic Sans MS" panose="030F0702030302020204" pitchFamily="66" charset="0"/>
              </a:rPr>
              <a:t>("apple", "banana", "cherry")</a:t>
            </a:r>
            <a:b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</a:b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                            </a:t>
            </a:r>
            <a:r>
              <a:rPr lang="en-US" sz="6400" dirty="0">
                <a:solidFill>
                  <a:srgbClr val="00B0F0"/>
                </a:solidFill>
                <a:latin typeface="Comic Sans MS" panose="030F0702030302020204" pitchFamily="66" charset="0"/>
              </a:rPr>
              <a:t>print</a:t>
            </a: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(</a:t>
            </a:r>
            <a:r>
              <a:rPr lang="en-US" sz="6400" dirty="0" err="1">
                <a:solidFill>
                  <a:srgbClr val="7030A0"/>
                </a:solidFill>
                <a:latin typeface="Comic Sans MS" panose="030F0702030302020204" pitchFamily="66" charset="0"/>
              </a:rPr>
              <a:t>len</a:t>
            </a: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(</a:t>
            </a:r>
            <a:r>
              <a:rPr lang="en-US" sz="6400" dirty="0" err="1">
                <a:solidFill>
                  <a:schemeClr val="accent4"/>
                </a:solidFill>
                <a:latin typeface="Comic Sans MS" panose="030F0702030302020204" pitchFamily="66" charset="0"/>
              </a:rPr>
              <a:t>thistuple</a:t>
            </a: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))</a:t>
            </a:r>
          </a:p>
          <a:p>
            <a:pPr marL="857250" indent="-857250">
              <a:buFont typeface="Wingdings" panose="05000000000000000000" pitchFamily="2" charset="2"/>
              <a:buChar char="q"/>
            </a:pP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To create a tuple with only one item, you have to add a comma after the item,                                              otherwise Python will not recognize it as a tuple.</a:t>
            </a:r>
          </a:p>
          <a:p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              </a:t>
            </a:r>
            <a:b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</a:br>
            <a: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  <a:t>              </a:t>
            </a:r>
            <a:b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</a:br>
            <a:br>
              <a:rPr lang="en-US" sz="6400" dirty="0">
                <a:solidFill>
                  <a:srgbClr val="7030A0"/>
                </a:solidFill>
                <a:latin typeface="Comic Sans MS" panose="030F0702030302020204" pitchFamily="66" charset="0"/>
              </a:rPr>
            </a:br>
            <a:endParaRPr lang="en-US" sz="6400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37A42-F749-7240-6934-F3DDB0E45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00B34-DEE8-0819-C7B9-619DB770995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3487" y="6356350"/>
            <a:ext cx="2614175" cy="365125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0BF932-0416-E23A-8A9E-41B300807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63" y="593852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406BB4C-0B62-9E57-6E13-FD12E34A83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97996-E645-B2C9-5887-8F63431D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7D8B3-1736-F9E6-7835-44DAFDD887F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521293" y="545233"/>
            <a:ext cx="7827066" cy="5528996"/>
          </a:xfrm>
        </p:spPr>
        <p:txBody>
          <a:bodyPr>
            <a:normAutofit fontScale="92500" lnSpcReduction="10000"/>
          </a:bodyPr>
          <a:lstStyle/>
          <a:p>
            <a:endParaRPr lang="en-US" dirty="0">
              <a:solidFill>
                <a:srgbClr val="00B0F0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chemeClr val="accent4"/>
                </a:solidFill>
                <a:latin typeface="Comic Sans MS" panose="030F0702030302020204" pitchFamily="66" charset="0"/>
              </a:rPr>
              <a:t>thistuple</a:t>
            </a:r>
            <a:r>
              <a:rPr lang="en-US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 = ("apple",)                         </a:t>
            </a:r>
            <a:r>
              <a:rPr lang="en-US" sz="2400" dirty="0">
                <a:solidFill>
                  <a:srgbClr val="00B0F0"/>
                </a:solidFill>
                <a:latin typeface="Comic Sans MS" panose="030F0702030302020204" pitchFamily="66" charset="0"/>
              </a:rPr>
              <a:t>print</a:t>
            </a:r>
            <a:r>
              <a:rPr lang="en-US" sz="2400" dirty="0">
                <a:solidFill>
                  <a:srgbClr val="00B050"/>
                </a:solidFill>
                <a:latin typeface="Comic Sans MS" panose="030F0702030302020204" pitchFamily="66" charset="0"/>
              </a:rPr>
              <a:t>(type(</a:t>
            </a:r>
            <a:r>
              <a:rPr lang="en-US" sz="2400" dirty="0" err="1">
                <a:solidFill>
                  <a:srgbClr val="00B050"/>
                </a:solidFill>
                <a:latin typeface="Comic Sans MS" panose="030F0702030302020204" pitchFamily="66" charset="0"/>
              </a:rPr>
              <a:t>thistuple</a:t>
            </a:r>
            <a:r>
              <a:rPr lang="en-US" sz="2400" dirty="0">
                <a:solidFill>
                  <a:srgbClr val="00B050"/>
                </a:solidFill>
                <a:latin typeface="Comic Sans MS" panose="030F0702030302020204" pitchFamily="66" charset="0"/>
              </a:rPr>
              <a:t>)) 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7030A0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 </a:t>
            </a:r>
            <a:r>
              <a:rPr lang="en-US" sz="2400" dirty="0" err="1">
                <a:solidFill>
                  <a:schemeClr val="accent4"/>
                </a:solidFill>
                <a:latin typeface="Comic Sans MS" panose="030F0702030302020204" pitchFamily="66" charset="0"/>
              </a:rPr>
              <a:t>thistuple</a:t>
            </a:r>
            <a:r>
              <a:rPr lang="en-US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 = ("apple")                         </a:t>
            </a:r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#NOT a tuple </a:t>
            </a:r>
            <a:br>
              <a:rPr lang="en-US" sz="2400" dirty="0">
                <a:solidFill>
                  <a:srgbClr val="7030A0"/>
                </a:solidFill>
                <a:latin typeface="Comic Sans MS" panose="030F0702030302020204" pitchFamily="66" charset="0"/>
              </a:rPr>
            </a:br>
            <a:r>
              <a:rPr lang="en-US" sz="2400" dirty="0">
                <a:solidFill>
                  <a:srgbClr val="00B0F0"/>
                </a:solidFill>
                <a:latin typeface="Comic Sans MS" panose="030F0702030302020204" pitchFamily="66" charset="0"/>
              </a:rPr>
              <a:t>print</a:t>
            </a:r>
            <a:r>
              <a:rPr lang="en-US" sz="2400" dirty="0">
                <a:solidFill>
                  <a:srgbClr val="00B050"/>
                </a:solidFill>
                <a:latin typeface="Comic Sans MS" panose="030F0702030302020204" pitchFamily="66" charset="0"/>
              </a:rPr>
              <a:t>(type(</a:t>
            </a:r>
            <a:r>
              <a:rPr lang="en-US" sz="2400" dirty="0" err="1">
                <a:solidFill>
                  <a:schemeClr val="accent4"/>
                </a:solidFill>
                <a:latin typeface="Comic Sans MS" panose="030F0702030302020204" pitchFamily="66" charset="0"/>
              </a:rPr>
              <a:t>thistuple</a:t>
            </a:r>
            <a:r>
              <a:rPr lang="en-US" sz="2400" dirty="0">
                <a:solidFill>
                  <a:srgbClr val="00B050"/>
                </a:solidFill>
                <a:latin typeface="Comic Sans MS" panose="030F0702030302020204" pitchFamily="66" charset="0"/>
              </a:rPr>
              <a:t>))                                       </a:t>
            </a:r>
          </a:p>
          <a:p>
            <a:endParaRPr lang="en-US" dirty="0">
              <a:solidFill>
                <a:srgbClr val="00B0F0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b="0" i="0" dirty="0">
              <a:solidFill>
                <a:srgbClr val="00B0F0"/>
              </a:solidFill>
              <a:effectLst/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A tuple can contain different data types:</a:t>
            </a:r>
          </a:p>
          <a:p>
            <a:r>
              <a:rPr lang="en-US" b="0" i="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             </a:t>
            </a:r>
            <a:r>
              <a:rPr lang="en-US" b="0" i="0" dirty="0">
                <a:solidFill>
                  <a:schemeClr val="accent4"/>
                </a:solidFill>
                <a:effectLst/>
                <a:latin typeface="Comic Sans MS" panose="030F0702030302020204" pitchFamily="66" charset="0"/>
              </a:rPr>
              <a:t>tuple1</a:t>
            </a:r>
            <a:r>
              <a:rPr lang="en-US" b="0" i="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= (</a:t>
            </a:r>
            <a:r>
              <a:rPr lang="en-US" b="0" i="0" dirty="0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"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abc</a:t>
            </a:r>
            <a:r>
              <a:rPr lang="en-US" b="0" i="0" dirty="0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, </a:t>
            </a:r>
            <a:r>
              <a:rPr lang="en-US" b="0" i="0" dirty="0">
                <a:solidFill>
                  <a:srgbClr val="990055"/>
                </a:solidFill>
                <a:effectLst/>
                <a:latin typeface="Comic Sans MS" panose="030F0702030302020204" pitchFamily="66" charset="0"/>
              </a:rPr>
              <a:t>34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, </a:t>
            </a:r>
            <a:r>
              <a:rPr lang="en-US" b="0" i="0" dirty="0">
                <a:solidFill>
                  <a:srgbClr val="005CC5"/>
                </a:solidFill>
                <a:effectLst/>
                <a:latin typeface="Comic Sans MS" panose="030F0702030302020204" pitchFamily="66" charset="0"/>
              </a:rPr>
              <a:t>True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, </a:t>
            </a:r>
            <a:r>
              <a:rPr lang="en-US" b="0" i="0" dirty="0">
                <a:solidFill>
                  <a:srgbClr val="990055"/>
                </a:solidFill>
                <a:effectLst/>
                <a:latin typeface="Comic Sans MS" panose="030F0702030302020204" pitchFamily="66" charset="0"/>
              </a:rPr>
              <a:t>40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, </a:t>
            </a:r>
            <a:r>
              <a:rPr lang="en-US" b="0" i="0" dirty="0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"male"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)</a:t>
            </a:r>
            <a:endParaRPr lang="en-US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tuples are defined as objects with the data type 'tuple’:</a:t>
            </a:r>
          </a:p>
          <a:p>
            <a:r>
              <a:rPr lang="en-IN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             </a:t>
            </a:r>
            <a:r>
              <a:rPr lang="en-IN" b="0" i="0" dirty="0" err="1">
                <a:solidFill>
                  <a:schemeClr val="accent4"/>
                </a:solidFill>
                <a:effectLst/>
                <a:latin typeface="Comic Sans MS" panose="030F0702030302020204" pitchFamily="66" charset="0"/>
              </a:rPr>
              <a:t>mytuple</a:t>
            </a:r>
            <a:r>
              <a:rPr lang="en-IN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 = (</a:t>
            </a:r>
            <a:r>
              <a:rPr lang="en-IN" b="0" i="0" dirty="0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"apple"</a:t>
            </a:r>
            <a:r>
              <a:rPr lang="en-IN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, </a:t>
            </a:r>
            <a:r>
              <a:rPr lang="en-IN" b="0" i="0" dirty="0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"banana"</a:t>
            </a:r>
            <a:r>
              <a:rPr lang="en-IN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, </a:t>
            </a:r>
            <a:r>
              <a:rPr lang="en-IN" b="0" i="0" dirty="0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"cherry"</a:t>
            </a:r>
            <a:r>
              <a:rPr lang="en-IN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)</a:t>
            </a:r>
            <a:br>
              <a:rPr lang="en-IN" dirty="0">
                <a:latin typeface="Comic Sans MS" panose="030F0702030302020204" pitchFamily="66" charset="0"/>
              </a:rPr>
            </a:br>
            <a:r>
              <a:rPr lang="en-IN" dirty="0">
                <a:latin typeface="Comic Sans MS" panose="030F0702030302020204" pitchFamily="66" charset="0"/>
              </a:rPr>
              <a:t>             </a:t>
            </a:r>
            <a:r>
              <a:rPr lang="en-IN" b="0" i="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print</a:t>
            </a:r>
            <a:r>
              <a:rPr lang="en-IN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(</a:t>
            </a:r>
            <a:r>
              <a:rPr lang="en-IN" b="0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type</a:t>
            </a:r>
            <a:r>
              <a:rPr lang="en-IN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(</a:t>
            </a:r>
            <a:r>
              <a:rPr lang="en-IN" b="0" i="0" dirty="0" err="1">
                <a:solidFill>
                  <a:schemeClr val="accent4"/>
                </a:solidFill>
                <a:effectLst/>
                <a:latin typeface="Comic Sans MS" panose="030F0702030302020204" pitchFamily="66" charset="0"/>
              </a:rPr>
              <a:t>mytuple</a:t>
            </a:r>
            <a:r>
              <a:rPr lang="en-IN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))</a:t>
            </a:r>
            <a:endParaRPr lang="en-US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en-IN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             &lt;class 'tuple’&gt;</a:t>
            </a:r>
            <a:r>
              <a:rPr lang="en-US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           </a:t>
            </a:r>
            <a:r>
              <a:rPr lang="en-US" b="0" i="0" dirty="0">
                <a:solidFill>
                  <a:srgbClr val="92D050"/>
                </a:solidFill>
                <a:effectLst/>
                <a:latin typeface="Comic Sans MS" panose="030F0702030302020204" pitchFamily="66" charset="0"/>
              </a:rPr>
              <a:t>#output</a:t>
            </a:r>
            <a:endParaRPr lang="en-US" dirty="0">
              <a:solidFill>
                <a:srgbClr val="92D05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3C1B9-C275-87D0-720F-5E7CDBBAB8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F13B2-E4FD-B4D9-176F-95F484CB8DC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2657534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B9178B0-629C-4376-62E5-BD0E01683F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66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8987D-2EF0-2A15-6072-997CA641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754B-8B73-F2A0-E350-452FB2EF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4" y="1618658"/>
            <a:ext cx="7796464" cy="79513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Learning Activity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54D7CB-8A69-AF39-8020-44B34EDA9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8C899-5513-1C28-06B2-D0C1F6BEA35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35870-23B4-4036-3B42-A03CA2D50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46" y="515145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31C39B-55D8-673F-1A94-C8B458B95D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215C4B-254D-9697-27FA-6860A5563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931" y="2612571"/>
            <a:ext cx="3990975" cy="306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28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3E00A-11B4-D330-A150-D236B778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94CA-1DB1-7549-B3E4-541257AA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602" y="954158"/>
            <a:ext cx="4218376" cy="65314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Conclusions-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C0631F-3068-63F1-6023-91141BED5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5A49E-8429-0600-5536-8D601FDEB9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82137-F1FA-BBE2-A3BE-A0D5142B5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28" y="555355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6B22593-37A6-4DEB-1E2A-8973704245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936547-6846-1B2C-ED6B-AC7D18442CAA}"/>
              </a:ext>
            </a:extLst>
          </p:cNvPr>
          <p:cNvSpPr txBox="1"/>
          <p:nvPr/>
        </p:nvSpPr>
        <p:spPr>
          <a:xfrm>
            <a:off x="547428" y="1868557"/>
            <a:ext cx="94257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sng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List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 is a collection which is ordered and changeable. Allows duplicate members.</a:t>
            </a:r>
          </a:p>
          <a:p>
            <a:pPr algn="l"/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Tuple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 is a collection which is ordered and unchangeable. Allows duplicate members.</a:t>
            </a:r>
          </a:p>
          <a:p>
            <a:pPr algn="l"/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 is a collection which is unordered, unchangeable, and unindexed.    </a:t>
            </a:r>
          </a:p>
          <a:p>
            <a:pPr algn="l"/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 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No duplicate members.</a:t>
            </a:r>
          </a:p>
          <a:p>
            <a:pPr algn="l"/>
            <a:endParaRPr lang="en-US" b="0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Dictionary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 is a collection which is ordered and changeable.                  </a:t>
            </a:r>
          </a:p>
          <a:p>
            <a:pPr algn="l"/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 </a:t>
            </a:r>
            <a:r>
              <a:rPr lang="en-US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No duplicate members.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32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2DDF4-5241-1220-EBD7-CD3C2419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A95C-E0CD-E728-1B40-E3E9EB46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57275"/>
            <a:ext cx="9882335" cy="862397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Now Students are able to </a:t>
            </a:r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: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5319A-EA0E-3A6F-5D2B-F84A323B6CF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353901" y="6224735"/>
            <a:ext cx="1732082" cy="46433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16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8F07B-3BDD-2D48-BE5C-11DC29FBC75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F18BF1-F4AB-0C08-0310-E661CB28C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3F69FD6-B8C2-4D32-6728-EE1EEB44F5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277" y="208906"/>
            <a:ext cx="874732" cy="874732"/>
          </a:xfrm>
          <a:prstGeom prst="rect">
            <a:avLst/>
          </a:prstGeom>
        </p:spPr>
      </p:pic>
      <p:graphicFrame>
        <p:nvGraphicFramePr>
          <p:cNvPr id="7" name="Title 1">
            <a:extLst>
              <a:ext uri="{FF2B5EF4-FFF2-40B4-BE49-F238E27FC236}">
                <a16:creationId xmlns:a16="http://schemas.microsoft.com/office/drawing/2014/main" id="{C0C6E8FE-08D5-6737-EE6C-678868ECE5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3917466"/>
              </p:ext>
            </p:extLst>
          </p:nvPr>
        </p:nvGraphicFramePr>
        <p:xfrm>
          <a:off x="644056" y="2419469"/>
          <a:ext cx="10760386" cy="3885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28348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7CA4-3487-8BCD-59D7-5F61B5DE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4934-F18A-9C59-D70B-ABB4D350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01" y="772399"/>
            <a:ext cx="7796464" cy="8349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post session activities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F9988D-4ECC-7843-D665-EDA5EDFADE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54D89-2F52-D528-3B08-70304B4D16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95CA9-4ACF-27BA-CB46-DEE4C487C389}"/>
              </a:ext>
            </a:extLst>
          </p:cNvPr>
          <p:cNvSpPr txBox="1"/>
          <p:nvPr/>
        </p:nvSpPr>
        <p:spPr>
          <a:xfrm>
            <a:off x="675861" y="1942390"/>
            <a:ext cx="6724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* Attempt the Post-session activity on LMS, before next session.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A21D0-3EC3-C8C9-71C6-4A4B9BD1C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A7D21E7-AB1D-AE04-3F5D-AF37640F66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49E833-5B9A-5A29-C35B-316AAE8F7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33" y="2453710"/>
            <a:ext cx="8157658" cy="344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40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C2F2C-06CA-7374-50D0-99BED7E46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D3AD-5DE7-9B21-97D7-EFF43A57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01" y="1374440"/>
            <a:ext cx="7796464" cy="3271394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Next session:</a:t>
            </a:r>
            <a:b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b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dirty="0">
                <a:solidFill>
                  <a:srgbClr val="202C8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Sets, Dictionary</a:t>
            </a:r>
            <a:endParaRPr lang="en-US" sz="2000" dirty="0">
              <a:solidFill>
                <a:srgbClr val="202C8F"/>
              </a:solidFill>
              <a:highlight>
                <a:srgbClr val="FFFFFF"/>
              </a:highlight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3AB768-87E0-2412-9630-821604584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F013B-1324-37A0-1E48-A7C2F7B227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464C4-8AF7-A650-3DB8-1CDAD8AD8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7" y="15096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E1D0DD1-8F39-44E3-1A66-F0B2CE3D99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0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Thank You </a:t>
            </a:r>
          </a:p>
        </p:txBody>
      </p:sp>
      <p:pic>
        <p:nvPicPr>
          <p:cNvPr id="1026" name="Picture 2" descr="Wave Panda GIF - Wave Panda Love GIFs">
            <a:extLst>
              <a:ext uri="{FF2B5EF4-FFF2-40B4-BE49-F238E27FC236}">
                <a16:creationId xmlns:a16="http://schemas.microsoft.com/office/drawing/2014/main" id="{09897E71-AB9F-49A1-2659-F4752168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914" y="1834243"/>
            <a:ext cx="3178629" cy="372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A9036-3DAB-BBCA-EEA2-6C99F5E5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2839" y="5929400"/>
            <a:ext cx="443001" cy="539553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19</a:t>
            </a:fld>
            <a:endParaRPr lang="en-US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997B1-8B40-6DFF-7DE4-77D77806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1" y="6356350"/>
            <a:ext cx="4617435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133D5-6B0B-5FD9-FDE2-A96BE2CD5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FC0424E-4C62-D264-97AF-E22FD26D4B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158" y="272572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2005</TotalTime>
  <Words>1109</Words>
  <Application>Microsoft Office PowerPoint</Application>
  <PresentationFormat>Widescreen</PresentationFormat>
  <Paragraphs>155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Comic Sans MS</vt:lpstr>
      <vt:lpstr>Consolas</vt:lpstr>
      <vt:lpstr>Garamond</vt:lpstr>
      <vt:lpstr>Georgia</vt:lpstr>
      <vt:lpstr>Roboto</vt:lpstr>
      <vt:lpstr>Verdana</vt:lpstr>
      <vt:lpstr>Wingdings</vt:lpstr>
      <vt:lpstr>Organic</vt:lpstr>
      <vt:lpstr>Lists, Tuples, Sets, Dictionary</vt:lpstr>
      <vt:lpstr>     Review of the key concepts of last session   </vt:lpstr>
      <vt:lpstr>PowerPoint Presentation</vt:lpstr>
      <vt:lpstr> At the end of this session students will be able to </vt:lpstr>
      <vt:lpstr>Session Outline</vt:lpstr>
      <vt:lpstr>PowerPoint Presentation</vt:lpstr>
      <vt:lpstr>    </vt:lpstr>
      <vt:lpstr>PowerPoint Presentation</vt:lpstr>
      <vt:lpstr>PowerPoint Presentation</vt:lpstr>
      <vt:lpstr>Learning Activity 1 </vt:lpstr>
      <vt:lpstr>PowerPoint Presentation</vt:lpstr>
      <vt:lpstr>PowerPoint Presentation</vt:lpstr>
      <vt:lpstr>PowerPoint Presentation</vt:lpstr>
      <vt:lpstr>Learning Activity 2</vt:lpstr>
      <vt:lpstr>Conclusions-</vt:lpstr>
      <vt:lpstr> Now Students are able to : </vt:lpstr>
      <vt:lpstr>post session activities</vt:lpstr>
      <vt:lpstr>Next session:  Sets, Dictionary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 presentation</dc:title>
  <dc:subject/>
  <dc:creator>Pooja Vajpayee</dc:creator>
  <cp:lastModifiedBy>Pooja Vajpayee</cp:lastModifiedBy>
  <cp:revision>6</cp:revision>
  <dcterms:created xsi:type="dcterms:W3CDTF">2024-03-23T10:51:44Z</dcterms:created>
  <dcterms:modified xsi:type="dcterms:W3CDTF">2026-08-21T06:08:23Z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