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3"/>
  </p:notesMasterIdLst>
  <p:sldIdLst>
    <p:sldId id="312" r:id="rId2"/>
    <p:sldId id="321" r:id="rId3"/>
    <p:sldId id="328" r:id="rId4"/>
    <p:sldId id="332" r:id="rId5"/>
    <p:sldId id="334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327" r:id="rId16"/>
    <p:sldId id="337" r:id="rId17"/>
    <p:sldId id="341" r:id="rId18"/>
    <p:sldId id="342" r:id="rId19"/>
    <p:sldId id="338" r:id="rId20"/>
    <p:sldId id="339" r:id="rId21"/>
    <p:sldId id="29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1474D1-7FC5-4FCD-98D1-09F895774C82}" v="1" dt="2026-08-21T06:09:05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Vajpayee" userId="5b87b0fd92f11293" providerId="LiveId" clId="{0501A310-59F1-4F20-8912-C0936825A972}"/>
    <pc:docChg chg="custSel modSld">
      <pc:chgData name="Pooja Vajpayee" userId="5b87b0fd92f11293" providerId="LiveId" clId="{0501A310-59F1-4F20-8912-C0936825A972}" dt="2026-08-21T06:09:08.917" v="68" actId="20577"/>
      <pc:docMkLst>
        <pc:docMk/>
      </pc:docMkLst>
      <pc:sldChg chg="modSp mod">
        <pc:chgData name="Pooja Vajpayee" userId="5b87b0fd92f11293" providerId="LiveId" clId="{0501A310-59F1-4F20-8912-C0936825A972}" dt="2026-08-21T06:09:08.917" v="68" actId="20577"/>
        <pc:sldMkLst>
          <pc:docMk/>
          <pc:sldMk cId="2202437675" sldId="312"/>
        </pc:sldMkLst>
        <pc:spChg chg="mod">
          <ac:chgData name="Pooja Vajpayee" userId="5b87b0fd92f11293" providerId="LiveId" clId="{0501A310-59F1-4F20-8912-C0936825A972}" dt="2026-08-21T06:09:08.917" v="68" actId="20577"/>
          <ac:spMkLst>
            <pc:docMk/>
            <pc:sldMk cId="2202437675" sldId="312"/>
            <ac:spMk id="5" creationId="{15D13C77-5584-2E97-6EAE-6617012A896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en-IN" sz="2800" dirty="0">
              <a:solidFill>
                <a:srgbClr val="FFFF00"/>
              </a:solidFill>
            </a:rPr>
            <a:t>Learning Outcome 1 :</a:t>
          </a:r>
          <a:r>
            <a:rPr lang="en-US" sz="2800" dirty="0">
              <a:solidFill>
                <a:schemeClr val="bg1"/>
              </a:solidFill>
              <a:latin typeface="Comic Sans MS" panose="030F0702030302020204" pitchFamily="66" charset="0"/>
            </a:rPr>
            <a:t> </a:t>
          </a:r>
          <a:r>
            <a:rPr lang="en-US" sz="2800" dirty="0">
              <a:latin typeface="Comic Sans MS" panose="030F0702030302020204" pitchFamily="66" charset="0"/>
            </a:rPr>
            <a:t>Explain history of Python, its evolution and areas where Python is used.</a:t>
          </a:r>
          <a:endParaRPr lang="en-IN" sz="2800" dirty="0">
            <a:solidFill>
              <a:schemeClr val="bg1"/>
            </a:solidFill>
            <a:latin typeface="Comic Sans MS" panose="030F0702030302020204" pitchFamily="66" charset="0"/>
          </a:endParaRP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US" sz="2800" kern="1200" dirty="0">
              <a:latin typeface="Comic Sans MS" panose="030F0702030302020204" pitchFamily="66" charset="0"/>
            </a:rPr>
            <a:t>Describe major features and advantages of Python.</a:t>
          </a:r>
          <a:endParaRPr lang="en-IN" sz="3200" kern="1200" spc="-50" baseline="0" dirty="0">
            <a:solidFill>
              <a:schemeClr val="bg1"/>
            </a:solidFill>
            <a:latin typeface="Comic Sans MS" panose="030F0702030302020204" pitchFamily="66" charset="0"/>
            <a:ea typeface="+mj-ea"/>
            <a:cs typeface="+mj-cs"/>
          </a:endParaRP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/>
            <a:t>1. </a:t>
          </a:r>
          <a:r>
            <a:rPr lang="en-US" dirty="0"/>
            <a:t>Introduction to Python Language</a:t>
          </a:r>
          <a:r>
            <a:rPr lang="en-IN" dirty="0">
              <a:solidFill>
                <a:schemeClr val="tx1"/>
              </a:solidFill>
            </a:rPr>
            <a:t>.</a:t>
          </a:r>
          <a:endParaRPr lang="en-US" dirty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/>
            <a:t>2 . Opening and Learning Outcomes. </a:t>
          </a:r>
          <a:endParaRPr lang="en-US" dirty="0"/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/>
            <a:t>3. </a:t>
          </a:r>
          <a:r>
            <a:rPr lang="en-US" dirty="0"/>
            <a:t> History of Python language.</a:t>
          </a: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/>
            <a:t>4.  A1 ( MCQ):</a:t>
          </a:r>
          <a:endParaRPr lang="en-US" dirty="0"/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/>
            <a:t>5.</a:t>
          </a:r>
          <a:r>
            <a:rPr lang="en-US" dirty="0"/>
            <a:t> Features of Python language</a:t>
          </a:r>
          <a:r>
            <a:rPr lang="en-IN" dirty="0"/>
            <a:t>.</a:t>
          </a:r>
          <a:endParaRPr lang="en-US" dirty="0"/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B3A5C720-F6BA-415B-BACC-D6E1E00A3E9C}">
      <dgm:prSet/>
      <dgm:spPr/>
      <dgm:t>
        <a:bodyPr/>
        <a:lstStyle/>
        <a:p>
          <a:r>
            <a:rPr lang="en-IN" dirty="0"/>
            <a:t>6 . Conclusion &amp; Closure</a:t>
          </a:r>
          <a:endParaRPr lang="en-US" dirty="0"/>
        </a:p>
      </dgm:t>
    </dgm:pt>
    <dgm:pt modelId="{F429E385-C516-4FAE-9D81-A0D8E294980B}" type="parTrans" cxnId="{0929CE6D-F2B1-4F6D-A0E5-1B096EB2DD2D}">
      <dgm:prSet/>
      <dgm:spPr/>
      <dgm:t>
        <a:bodyPr/>
        <a:lstStyle/>
        <a:p>
          <a:endParaRPr lang="en-US"/>
        </a:p>
      </dgm:t>
    </dgm:pt>
    <dgm:pt modelId="{70FFF6AF-5C8B-41F5-90C8-E0C6F35FD649}" type="sibTrans" cxnId="{0929CE6D-F2B1-4F6D-A0E5-1B096EB2DD2D}">
      <dgm:prSet/>
      <dgm:spPr/>
      <dgm:t>
        <a:bodyPr/>
        <a:lstStyle/>
        <a:p>
          <a:endParaRPr lang="en-US"/>
        </a:p>
      </dgm:t>
    </dgm:pt>
    <dgm:pt modelId="{99FC8459-9AC4-4D1E-9BDA-DFE1D1DCA09B}">
      <dgm:prSet custT="1"/>
      <dgm:spPr/>
      <dgm:t>
        <a:bodyPr/>
        <a:lstStyle/>
        <a:p>
          <a:r>
            <a:rPr lang="en-IN" sz="3500" kern="1200" dirty="0"/>
            <a:t>7.  </a:t>
          </a:r>
          <a:r>
            <a:rPr lang="en-IN" sz="35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Post Session Activity </a:t>
          </a:r>
        </a:p>
      </dgm:t>
    </dgm:pt>
    <dgm:pt modelId="{77280AB4-38B6-4095-89FE-042382F10ACA}" type="parTrans" cxnId="{5CD507EF-195E-4EAE-B039-D7C99BE1A3F1}">
      <dgm:prSet/>
      <dgm:spPr/>
      <dgm:t>
        <a:bodyPr/>
        <a:lstStyle/>
        <a:p>
          <a:endParaRPr lang="en-IN"/>
        </a:p>
      </dgm:t>
    </dgm:pt>
    <dgm:pt modelId="{68E857C9-4009-415C-853F-EBFD4C6F4A7B}" type="sibTrans" cxnId="{5CD507EF-195E-4EAE-B039-D7C99BE1A3F1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</dgm:pt>
    <dgm:pt modelId="{6FF76B5C-2320-4CB5-9844-D984662B1716}" type="pres">
      <dgm:prSet presAssocID="{C8BD7C71-8F1B-400D-96A3-6B553A93EB7F}" presName="thickLine" presStyleLbl="alignNode1" presStyleIdx="0" presStyleCnt="7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7"/>
      <dgm:spPr/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7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7"/>
      <dgm:spPr/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7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7"/>
      <dgm:spPr/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7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7"/>
      <dgm:spPr/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7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7"/>
      <dgm:spPr/>
    </dgm:pt>
    <dgm:pt modelId="{88DBC881-0983-4C91-8705-CB8A16D50941}" type="pres">
      <dgm:prSet presAssocID="{BA2E5375-FD77-47B4-A888-7387932E6D62}" presName="vert1" presStyleCnt="0"/>
      <dgm:spPr/>
    </dgm:pt>
    <dgm:pt modelId="{2B37DFBD-1045-417A-89DD-348147EAB4F5}" type="pres">
      <dgm:prSet presAssocID="{B3A5C720-F6BA-415B-BACC-D6E1E00A3E9C}" presName="thickLine" presStyleLbl="alignNode1" presStyleIdx="5" presStyleCnt="7"/>
      <dgm:spPr/>
    </dgm:pt>
    <dgm:pt modelId="{37DCFB0B-1A16-4C35-A117-077E4A9AB132}" type="pres">
      <dgm:prSet presAssocID="{B3A5C720-F6BA-415B-BACC-D6E1E00A3E9C}" presName="horz1" presStyleCnt="0"/>
      <dgm:spPr/>
    </dgm:pt>
    <dgm:pt modelId="{1DE32878-1683-410B-AEEA-0DF09EA5FA62}" type="pres">
      <dgm:prSet presAssocID="{B3A5C720-F6BA-415B-BACC-D6E1E00A3E9C}" presName="tx1" presStyleLbl="revTx" presStyleIdx="5" presStyleCnt="7"/>
      <dgm:spPr/>
    </dgm:pt>
    <dgm:pt modelId="{41D82D7D-82CC-403F-8FAA-7EF8B4434DBF}" type="pres">
      <dgm:prSet presAssocID="{B3A5C720-F6BA-415B-BACC-D6E1E00A3E9C}" presName="vert1" presStyleCnt="0"/>
      <dgm:spPr/>
    </dgm:pt>
    <dgm:pt modelId="{C00E17CF-93B3-44F2-9630-42C8C4D9A573}" type="pres">
      <dgm:prSet presAssocID="{99FC8459-9AC4-4D1E-9BDA-DFE1D1DCA09B}" presName="thickLine" presStyleLbl="alignNode1" presStyleIdx="6" presStyleCnt="7"/>
      <dgm:spPr/>
    </dgm:pt>
    <dgm:pt modelId="{FEF2EC88-6F8F-4301-AF91-82A9E13BC377}" type="pres">
      <dgm:prSet presAssocID="{99FC8459-9AC4-4D1E-9BDA-DFE1D1DCA09B}" presName="horz1" presStyleCnt="0"/>
      <dgm:spPr/>
    </dgm:pt>
    <dgm:pt modelId="{797037F6-2CA6-433A-BB99-F6CF6517BE03}" type="pres">
      <dgm:prSet presAssocID="{99FC8459-9AC4-4D1E-9BDA-DFE1D1DCA09B}" presName="tx1" presStyleLbl="revTx" presStyleIdx="6" presStyleCnt="7"/>
      <dgm:spPr/>
    </dgm:pt>
    <dgm:pt modelId="{F4E6ED3E-11A2-4D61-988A-2C3FC1B42073}" type="pres">
      <dgm:prSet presAssocID="{99FC8459-9AC4-4D1E-9BDA-DFE1D1DCA09B}" presName="vert1" presStyleCnt="0"/>
      <dgm:spPr/>
    </dgm:pt>
  </dgm:ptLst>
  <dgm:cxnLst>
    <dgm:cxn modelId="{AC777213-F11B-480E-B008-A2643A65BF23}" type="presOf" srcId="{B3A5C720-F6BA-415B-BACC-D6E1E00A3E9C}" destId="{1DE32878-1683-410B-AEEA-0DF09EA5FA62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F50F0544-F653-402B-9303-8E578B71C73E}" type="presOf" srcId="{99FC8459-9AC4-4D1E-9BDA-DFE1D1DCA09B}" destId="{797037F6-2CA6-433A-BB99-F6CF6517BE03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0929CE6D-F2B1-4F6D-A0E5-1B096EB2DD2D}" srcId="{B64DB52A-CA4F-4852-B41E-6A1F43CC58F9}" destId="{B3A5C720-F6BA-415B-BACC-D6E1E00A3E9C}" srcOrd="5" destOrd="0" parTransId="{F429E385-C516-4FAE-9D81-A0D8E294980B}" sibTransId="{70FFF6AF-5C8B-41F5-90C8-E0C6F35FD649}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5CD507EF-195E-4EAE-B039-D7C99BE1A3F1}" srcId="{B64DB52A-CA4F-4852-B41E-6A1F43CC58F9}" destId="{99FC8459-9AC4-4D1E-9BDA-DFE1D1DCA09B}" srcOrd="6" destOrd="0" parTransId="{77280AB4-38B6-4095-89FE-042382F10ACA}" sibTransId="{68E857C9-4009-415C-853F-EBFD4C6F4A7B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  <dgm:cxn modelId="{D52B8AEE-6B59-47DE-96B8-D9B647AB0BD5}" type="presParOf" srcId="{573103A9-89AC-4873-8CB5-0F4B7370B2E1}" destId="{2B37DFBD-1045-417A-89DD-348147EAB4F5}" srcOrd="10" destOrd="0" presId="urn:microsoft.com/office/officeart/2008/layout/LinedList"/>
    <dgm:cxn modelId="{87CEFD5A-15D0-405F-A288-77213AA4C691}" type="presParOf" srcId="{573103A9-89AC-4873-8CB5-0F4B7370B2E1}" destId="{37DCFB0B-1A16-4C35-A117-077E4A9AB132}" srcOrd="11" destOrd="0" presId="urn:microsoft.com/office/officeart/2008/layout/LinedList"/>
    <dgm:cxn modelId="{FAE27A14-2C4C-460F-8666-684E767B4C26}" type="presParOf" srcId="{37DCFB0B-1A16-4C35-A117-077E4A9AB132}" destId="{1DE32878-1683-410B-AEEA-0DF09EA5FA62}" srcOrd="0" destOrd="0" presId="urn:microsoft.com/office/officeart/2008/layout/LinedList"/>
    <dgm:cxn modelId="{B8632CF4-76F8-45D5-970F-DC293805AC34}" type="presParOf" srcId="{37DCFB0B-1A16-4C35-A117-077E4A9AB132}" destId="{41D82D7D-82CC-403F-8FAA-7EF8B4434DBF}" srcOrd="1" destOrd="0" presId="urn:microsoft.com/office/officeart/2008/layout/LinedList"/>
    <dgm:cxn modelId="{3BCDC9A2-18EF-4657-8CC7-758895941243}" type="presParOf" srcId="{573103A9-89AC-4873-8CB5-0F4B7370B2E1}" destId="{C00E17CF-93B3-44F2-9630-42C8C4D9A573}" srcOrd="12" destOrd="0" presId="urn:microsoft.com/office/officeart/2008/layout/LinedList"/>
    <dgm:cxn modelId="{7B63E39B-EB89-4D7E-B6EB-7A2411849EDB}" type="presParOf" srcId="{573103A9-89AC-4873-8CB5-0F4B7370B2E1}" destId="{FEF2EC88-6F8F-4301-AF91-82A9E13BC377}" srcOrd="13" destOrd="0" presId="urn:microsoft.com/office/officeart/2008/layout/LinedList"/>
    <dgm:cxn modelId="{C43CD435-9D61-42E3-B13F-A9BB5E271817}" type="presParOf" srcId="{FEF2EC88-6F8F-4301-AF91-82A9E13BC377}" destId="{797037F6-2CA6-433A-BB99-F6CF6517BE03}" srcOrd="0" destOrd="0" presId="urn:microsoft.com/office/officeart/2008/layout/LinedList"/>
    <dgm:cxn modelId="{15332F65-C6CF-4E3C-9160-CE7AA1938B4B}" type="presParOf" srcId="{FEF2EC88-6F8F-4301-AF91-82A9E13BC377}" destId="{F4E6ED3E-11A2-4D61-988A-2C3FC1B4207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FC609C-DC88-4C35-AEED-9A1D896ABFBF}">
      <dgm:prSet custT="1"/>
      <dgm:spPr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106680" tIns="106680" rIns="106680" bIns="106680" numCol="1" spcCol="1270" anchor="ctr" anchorCtr="0"/>
        <a:lstStyle/>
        <a:p>
          <a:r>
            <a:rPr lang="en-IN" sz="2800" dirty="0">
              <a:solidFill>
                <a:srgbClr val="FFFF00"/>
              </a:solidFill>
            </a:rPr>
            <a:t>Learning Outcome 1 :</a:t>
          </a:r>
          <a:r>
            <a:rPr lang="en-US" sz="2800" dirty="0">
              <a:solidFill>
                <a:schemeClr val="bg1"/>
              </a:solidFill>
              <a:latin typeface="Comic Sans MS" panose="030F0702030302020204" pitchFamily="66" charset="0"/>
            </a:rPr>
            <a:t> </a:t>
          </a:r>
          <a:r>
            <a:rPr lang="en-US" sz="2800" dirty="0">
              <a:latin typeface="Comic Sans MS" panose="030F0702030302020204" pitchFamily="66" charset="0"/>
            </a:rPr>
            <a:t>Explain history of Python, its evolution and areas where Python is used.</a:t>
          </a:r>
          <a:endParaRPr lang="en-IN" sz="2800" dirty="0">
            <a:solidFill>
              <a:schemeClr val="bg1"/>
            </a:solidFill>
            <a:latin typeface="Comic Sans MS" panose="030F0702030302020204" pitchFamily="66" charset="0"/>
          </a:endParaRPr>
        </a:p>
      </dgm:t>
    </dgm:pt>
    <dgm:pt modelId="{0EBE76BE-FEE0-4500-A9EC-D0A789918FB4}" type="parTrans" cxnId="{BE30BBE5-35D5-4F61-BB55-398D04B98AEE}">
      <dgm:prSet/>
      <dgm:spPr/>
      <dgm:t>
        <a:bodyPr/>
        <a:lstStyle/>
        <a:p>
          <a:endParaRPr lang="en-IN"/>
        </a:p>
      </dgm:t>
    </dgm:pt>
    <dgm:pt modelId="{A75C4C71-5501-4FD5-BBCF-A54D37DCF603}" type="sibTrans" cxnId="{BE30BBE5-35D5-4F61-BB55-398D04B98AEE}">
      <dgm:prSet/>
      <dgm:spPr/>
      <dgm:t>
        <a:bodyPr/>
        <a:lstStyle/>
        <a:p>
          <a:endParaRPr lang="en-IN"/>
        </a:p>
      </dgm:t>
    </dgm:pt>
    <dgm:pt modelId="{AF06061A-2E03-4F4B-AC19-A2718F74A676}">
      <dgm:prSet custT="1"/>
      <dgm:spPr/>
      <dgm:t>
        <a:bodyPr/>
        <a:lstStyle/>
        <a:p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US" sz="2800" kern="1200" dirty="0">
              <a:latin typeface="Comic Sans MS" panose="030F0702030302020204" pitchFamily="66" charset="0"/>
            </a:rPr>
            <a:t>Describe major features and advantages of Python.</a:t>
          </a:r>
          <a:endParaRPr lang="en-IN" sz="3200" kern="1200" spc="-50" baseline="0" dirty="0">
            <a:solidFill>
              <a:schemeClr val="bg1"/>
            </a:solidFill>
            <a:latin typeface="Comic Sans MS" panose="030F0702030302020204" pitchFamily="66" charset="0"/>
            <a:ea typeface="+mj-ea"/>
            <a:cs typeface="+mj-cs"/>
          </a:endParaRPr>
        </a:p>
      </dgm:t>
    </dgm:pt>
    <dgm:pt modelId="{739E5B49-7E20-4025-A3F0-03E3FA86CAAA}" type="parTrans" cxnId="{57A571AA-D051-4DF6-8BA3-7ADAD237F423}">
      <dgm:prSet/>
      <dgm:spPr/>
      <dgm:t>
        <a:bodyPr/>
        <a:lstStyle/>
        <a:p>
          <a:endParaRPr lang="en-IN"/>
        </a:p>
      </dgm:t>
    </dgm:pt>
    <dgm:pt modelId="{18B8C49D-91EB-4ECA-82D5-607A8ED63D13}" type="sibTrans" cxnId="{57A571AA-D051-4DF6-8BA3-7ADAD237F423}">
      <dgm:prSet/>
      <dgm:spPr/>
      <dgm:t>
        <a:bodyPr/>
        <a:lstStyle/>
        <a:p>
          <a:endParaRPr lang="en-IN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6800567B-E8BA-4056-BF4C-7A95F221F191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44D88BBB-38CB-469E-A6A9-728BBCFF911D}" type="pres">
      <dgm:prSet presAssocID="{B7ED251F-A7A3-4D25-B004-4241BE03EDC3}" presName="TwoNodes_2" presStyleLbl="node1" presStyleIdx="1" presStyleCnt="2">
        <dgm:presLayoutVars>
          <dgm:bulletEnabled val="1"/>
        </dgm:presLayoutVars>
      </dgm:prSet>
      <dgm:spPr/>
    </dgm:pt>
    <dgm:pt modelId="{38D8FA70-234F-4000-93A9-1CC368BF0D65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6628310-E262-47D3-9987-5CF319B76894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CEEDFE3E-BB49-433E-A23A-1124DD3224D5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C65E8234-57E8-4467-A608-5C4CC58D76AF}" type="presOf" srcId="{AF06061A-2E03-4F4B-AC19-A2718F74A676}" destId="{CEEDFE3E-BB49-433E-A23A-1124DD3224D5}" srcOrd="1" destOrd="0" presId="urn:microsoft.com/office/officeart/2005/8/layout/vProcess5"/>
    <dgm:cxn modelId="{EBBB3277-4797-4719-8C82-814F0C7A2A14}" type="presOf" srcId="{11FC609C-DC88-4C35-AEED-9A1D896ABFBF}" destId="{6800567B-E8BA-4056-BF4C-7A95F221F191}" srcOrd="0" destOrd="0" presId="urn:microsoft.com/office/officeart/2005/8/layout/vProcess5"/>
    <dgm:cxn modelId="{783FF159-93D5-4BE6-B0D0-E3A231EBF48F}" type="presOf" srcId="{A75C4C71-5501-4FD5-BBCF-A54D37DCF603}" destId="{38D8FA70-234F-4000-93A9-1CC368BF0D65}" srcOrd="0" destOrd="0" presId="urn:microsoft.com/office/officeart/2005/8/layout/vProcess5"/>
    <dgm:cxn modelId="{86AB1F8A-5860-490E-9D63-88305629C8EA}" type="presOf" srcId="{AF06061A-2E03-4F4B-AC19-A2718F74A676}" destId="{44D88BBB-38CB-469E-A6A9-728BBCFF911D}" srcOrd="0" destOrd="0" presId="urn:microsoft.com/office/officeart/2005/8/layout/vProcess5"/>
    <dgm:cxn modelId="{13D463A3-517B-4394-B0A1-622F44616D9C}" type="presOf" srcId="{11FC609C-DC88-4C35-AEED-9A1D896ABFBF}" destId="{B6628310-E262-47D3-9987-5CF319B76894}" srcOrd="1" destOrd="0" presId="urn:microsoft.com/office/officeart/2005/8/layout/vProcess5"/>
    <dgm:cxn modelId="{57A571AA-D051-4DF6-8BA3-7ADAD237F423}" srcId="{B7ED251F-A7A3-4D25-B004-4241BE03EDC3}" destId="{AF06061A-2E03-4F4B-AC19-A2718F74A676}" srcOrd="1" destOrd="0" parTransId="{739E5B49-7E20-4025-A3F0-03E3FA86CAAA}" sibTransId="{18B8C49D-91EB-4ECA-82D5-607A8ED63D13}"/>
    <dgm:cxn modelId="{BE30BBE5-35D5-4F61-BB55-398D04B98AEE}" srcId="{B7ED251F-A7A3-4D25-B004-4241BE03EDC3}" destId="{11FC609C-DC88-4C35-AEED-9A1D896ABFBF}" srcOrd="0" destOrd="0" parTransId="{0EBE76BE-FEE0-4500-A9EC-D0A789918FB4}" sibTransId="{A75C4C71-5501-4FD5-BBCF-A54D37DCF603}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681C2380-8893-4FCA-8BC3-DE7C26D49491}" type="presParOf" srcId="{E218E0F1-97EC-4D60-8F4A-A6E21D910199}" destId="{6800567B-E8BA-4056-BF4C-7A95F221F191}" srcOrd="1" destOrd="0" presId="urn:microsoft.com/office/officeart/2005/8/layout/vProcess5"/>
    <dgm:cxn modelId="{288B137A-F5F7-4768-ACDC-3B91BE1DD438}" type="presParOf" srcId="{E218E0F1-97EC-4D60-8F4A-A6E21D910199}" destId="{44D88BBB-38CB-469E-A6A9-728BBCFF911D}" srcOrd="2" destOrd="0" presId="urn:microsoft.com/office/officeart/2005/8/layout/vProcess5"/>
    <dgm:cxn modelId="{8A3C0978-0F3F-4CE5-90A1-EC5126829F77}" type="presParOf" srcId="{E218E0F1-97EC-4D60-8F4A-A6E21D910199}" destId="{38D8FA70-234F-4000-93A9-1CC368BF0D65}" srcOrd="3" destOrd="0" presId="urn:microsoft.com/office/officeart/2005/8/layout/vProcess5"/>
    <dgm:cxn modelId="{7EB6A589-7909-4F10-83B1-04AD04445BAB}" type="presParOf" srcId="{E218E0F1-97EC-4D60-8F4A-A6E21D910199}" destId="{B6628310-E262-47D3-9987-5CF319B76894}" srcOrd="4" destOrd="0" presId="urn:microsoft.com/office/officeart/2005/8/layout/vProcess5"/>
    <dgm:cxn modelId="{37133920-ABD4-4B28-95B1-F054EEFC2F95}" type="presParOf" srcId="{E218E0F1-97EC-4D60-8F4A-A6E21D910199}" destId="{CEEDFE3E-BB49-433E-A23A-1124DD3224D5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146328" cy="1748662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</a:t>
          </a:r>
          <a:r>
            <a:rPr lang="en-US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 </a:t>
          </a:r>
          <a:r>
            <a:rPr lang="en-US" sz="2800" kern="1200" dirty="0">
              <a:latin typeface="Comic Sans MS" panose="030F0702030302020204" pitchFamily="66" charset="0"/>
            </a:rPr>
            <a:t>Explain history of Python, its evolution and areas where Python is used.</a:t>
          </a:r>
          <a:endParaRPr lang="en-IN" sz="2800" kern="1200" dirty="0">
            <a:solidFill>
              <a:schemeClr val="bg1"/>
            </a:solidFill>
            <a:latin typeface="Comic Sans MS" panose="030F0702030302020204" pitchFamily="66" charset="0"/>
          </a:endParaRPr>
        </a:p>
      </dsp:txBody>
      <dsp:txXfrm>
        <a:off x="51217" y="51217"/>
        <a:ext cx="7338948" cy="1646228"/>
      </dsp:txXfrm>
    </dsp:sp>
    <dsp:sp modelId="{44D88BBB-38CB-469E-A6A9-728BBCFF911D}">
      <dsp:nvSpPr>
        <dsp:cNvPr id="0" name=""/>
        <dsp:cNvSpPr/>
      </dsp:nvSpPr>
      <dsp:spPr>
        <a:xfrm>
          <a:off x="1614057" y="2137253"/>
          <a:ext cx="9146328" cy="1748662"/>
        </a:xfrm>
        <a:prstGeom prst="roundRect">
          <a:avLst>
            <a:gd name="adj" fmla="val 10000"/>
          </a:avLst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US" sz="2800" kern="1200" dirty="0">
              <a:latin typeface="Comic Sans MS" panose="030F0702030302020204" pitchFamily="66" charset="0"/>
            </a:rPr>
            <a:t>Describe major features and advantages of Python.</a:t>
          </a:r>
          <a:endParaRPr lang="en-IN" sz="3200" kern="1200" spc="-50" baseline="0" dirty="0">
            <a:solidFill>
              <a:schemeClr val="bg1"/>
            </a:solidFill>
            <a:latin typeface="Comic Sans MS" panose="030F0702030302020204" pitchFamily="66" charset="0"/>
            <a:ea typeface="+mj-ea"/>
            <a:cs typeface="+mj-cs"/>
          </a:endParaRPr>
        </a:p>
      </dsp:txBody>
      <dsp:txXfrm>
        <a:off x="1665274" y="2188470"/>
        <a:ext cx="6293205" cy="1646228"/>
      </dsp:txXfrm>
    </dsp:sp>
    <dsp:sp modelId="{38D8FA70-234F-4000-93A9-1CC368BF0D65}">
      <dsp:nvSpPr>
        <dsp:cNvPr id="0" name=""/>
        <dsp:cNvSpPr/>
      </dsp:nvSpPr>
      <dsp:spPr>
        <a:xfrm>
          <a:off x="8009697" y="1374642"/>
          <a:ext cx="1136630" cy="113663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265439" y="1374642"/>
        <a:ext cx="625146" cy="8553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675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1. </a:t>
          </a:r>
          <a:r>
            <a:rPr lang="en-US" sz="3500" kern="1200" dirty="0"/>
            <a:t>Introduction to Python Language</a:t>
          </a:r>
          <a:r>
            <a:rPr lang="en-IN" sz="3500" kern="1200" dirty="0">
              <a:solidFill>
                <a:schemeClr val="tx1"/>
              </a:solidFill>
            </a:rPr>
            <a:t>.</a:t>
          </a:r>
          <a:endParaRPr lang="en-US" sz="3500" kern="1200" dirty="0"/>
        </a:p>
      </dsp:txBody>
      <dsp:txXfrm>
        <a:off x="0" y="675"/>
        <a:ext cx="6900512" cy="790684"/>
      </dsp:txXfrm>
    </dsp:sp>
    <dsp:sp modelId="{F83A5B86-9D43-4C81-A6D4-87875817B689}">
      <dsp:nvSpPr>
        <dsp:cNvPr id="0" name=""/>
        <dsp:cNvSpPr/>
      </dsp:nvSpPr>
      <dsp:spPr>
        <a:xfrm>
          <a:off x="0" y="791359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791359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2 . Opening and Learning Outcomes. </a:t>
          </a:r>
          <a:endParaRPr lang="en-US" sz="3500" kern="1200" dirty="0"/>
        </a:p>
      </dsp:txBody>
      <dsp:txXfrm>
        <a:off x="0" y="791359"/>
        <a:ext cx="6900512" cy="790684"/>
      </dsp:txXfrm>
    </dsp:sp>
    <dsp:sp modelId="{7EE56E18-6978-43E9-9D4D-E31AA5BEE441}">
      <dsp:nvSpPr>
        <dsp:cNvPr id="0" name=""/>
        <dsp:cNvSpPr/>
      </dsp:nvSpPr>
      <dsp:spPr>
        <a:xfrm>
          <a:off x="0" y="1582044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582044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3. </a:t>
          </a:r>
          <a:r>
            <a:rPr lang="en-US" sz="3500" kern="1200" dirty="0"/>
            <a:t> History of Python language.</a:t>
          </a:r>
        </a:p>
      </dsp:txBody>
      <dsp:txXfrm>
        <a:off x="0" y="1582044"/>
        <a:ext cx="6900512" cy="790684"/>
      </dsp:txXfrm>
    </dsp:sp>
    <dsp:sp modelId="{B514687E-679F-4404-A929-C733AA004539}">
      <dsp:nvSpPr>
        <dsp:cNvPr id="0" name=""/>
        <dsp:cNvSpPr/>
      </dsp:nvSpPr>
      <dsp:spPr>
        <a:xfrm>
          <a:off x="0" y="2372728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2372728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4.  A1 ( MCQ):</a:t>
          </a:r>
          <a:endParaRPr lang="en-US" sz="3500" kern="1200" dirty="0"/>
        </a:p>
      </dsp:txBody>
      <dsp:txXfrm>
        <a:off x="0" y="2372728"/>
        <a:ext cx="6900512" cy="790684"/>
      </dsp:txXfrm>
    </dsp:sp>
    <dsp:sp modelId="{0B062B2C-FD23-461E-89A1-3ECDF7A567C2}">
      <dsp:nvSpPr>
        <dsp:cNvPr id="0" name=""/>
        <dsp:cNvSpPr/>
      </dsp:nvSpPr>
      <dsp:spPr>
        <a:xfrm>
          <a:off x="0" y="316341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3163412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5.</a:t>
          </a:r>
          <a:r>
            <a:rPr lang="en-US" sz="3500" kern="1200" dirty="0"/>
            <a:t> Features of Python language</a:t>
          </a:r>
          <a:r>
            <a:rPr lang="en-IN" sz="3500" kern="1200" dirty="0"/>
            <a:t>.</a:t>
          </a:r>
          <a:endParaRPr lang="en-US" sz="3500" kern="1200" dirty="0"/>
        </a:p>
      </dsp:txBody>
      <dsp:txXfrm>
        <a:off x="0" y="3163412"/>
        <a:ext cx="6900512" cy="790684"/>
      </dsp:txXfrm>
    </dsp:sp>
    <dsp:sp modelId="{2B37DFBD-1045-417A-89DD-348147EAB4F5}">
      <dsp:nvSpPr>
        <dsp:cNvPr id="0" name=""/>
        <dsp:cNvSpPr/>
      </dsp:nvSpPr>
      <dsp:spPr>
        <a:xfrm>
          <a:off x="0" y="3954096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E32878-1683-410B-AEEA-0DF09EA5FA62}">
      <dsp:nvSpPr>
        <dsp:cNvPr id="0" name=""/>
        <dsp:cNvSpPr/>
      </dsp:nvSpPr>
      <dsp:spPr>
        <a:xfrm>
          <a:off x="0" y="3954096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6 . Conclusion &amp; Closure</a:t>
          </a:r>
          <a:endParaRPr lang="en-US" sz="3500" kern="1200" dirty="0"/>
        </a:p>
      </dsp:txBody>
      <dsp:txXfrm>
        <a:off x="0" y="3954096"/>
        <a:ext cx="6900512" cy="790684"/>
      </dsp:txXfrm>
    </dsp:sp>
    <dsp:sp modelId="{C00E17CF-93B3-44F2-9630-42C8C4D9A573}">
      <dsp:nvSpPr>
        <dsp:cNvPr id="0" name=""/>
        <dsp:cNvSpPr/>
      </dsp:nvSpPr>
      <dsp:spPr>
        <a:xfrm>
          <a:off x="0" y="47447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037F6-2CA6-433A-BB99-F6CF6517BE03}">
      <dsp:nvSpPr>
        <dsp:cNvPr id="0" name=""/>
        <dsp:cNvSpPr/>
      </dsp:nvSpPr>
      <dsp:spPr>
        <a:xfrm>
          <a:off x="0" y="4744781"/>
          <a:ext cx="6900512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 dirty="0"/>
            <a:t>7.  </a:t>
          </a:r>
          <a:r>
            <a:rPr lang="en-IN" sz="35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Calibri" panose="020F0502020204030204"/>
              <a:ea typeface="+mn-ea"/>
              <a:cs typeface="+mn-cs"/>
            </a:rPr>
            <a:t>Post Session Activity </a:t>
          </a:r>
        </a:p>
      </dsp:txBody>
      <dsp:txXfrm>
        <a:off x="0" y="4744781"/>
        <a:ext cx="6900512" cy="7906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0567B-E8BA-4056-BF4C-7A95F221F191}">
      <dsp:nvSpPr>
        <dsp:cNvPr id="0" name=""/>
        <dsp:cNvSpPr/>
      </dsp:nvSpPr>
      <dsp:spPr>
        <a:xfrm>
          <a:off x="0" y="0"/>
          <a:ext cx="9226506" cy="1660615"/>
        </a:xfrm>
        <a:prstGeom prst="roundRect">
          <a:avLst>
            <a:gd name="adj" fmla="val 10000"/>
          </a:avLst>
        </a:prstGeom>
        <a:solidFill>
          <a:srgbClr val="3C9770">
            <a:hueOff val="0"/>
            <a:satOff val="0"/>
            <a:lumOff val="0"/>
            <a:alphaOff val="0"/>
          </a:srgbClr>
        </a:solidFill>
        <a:ln w="15875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1 :</a:t>
          </a:r>
          <a:r>
            <a:rPr lang="en-US" sz="2800" kern="1200" dirty="0">
              <a:solidFill>
                <a:schemeClr val="bg1"/>
              </a:solidFill>
              <a:latin typeface="Comic Sans MS" panose="030F0702030302020204" pitchFamily="66" charset="0"/>
            </a:rPr>
            <a:t> </a:t>
          </a:r>
          <a:r>
            <a:rPr lang="en-US" sz="2800" kern="1200" dirty="0">
              <a:latin typeface="Comic Sans MS" panose="030F0702030302020204" pitchFamily="66" charset="0"/>
            </a:rPr>
            <a:t>Explain history of Python, its evolution and areas where Python is used.</a:t>
          </a:r>
          <a:endParaRPr lang="en-IN" sz="2800" kern="1200" dirty="0">
            <a:solidFill>
              <a:schemeClr val="bg1"/>
            </a:solidFill>
            <a:latin typeface="Comic Sans MS" panose="030F0702030302020204" pitchFamily="66" charset="0"/>
          </a:endParaRPr>
        </a:p>
      </dsp:txBody>
      <dsp:txXfrm>
        <a:off x="48638" y="48638"/>
        <a:ext cx="7510129" cy="1563339"/>
      </dsp:txXfrm>
    </dsp:sp>
    <dsp:sp modelId="{44D88BBB-38CB-469E-A6A9-728BBCFF911D}">
      <dsp:nvSpPr>
        <dsp:cNvPr id="0" name=""/>
        <dsp:cNvSpPr/>
      </dsp:nvSpPr>
      <dsp:spPr>
        <a:xfrm>
          <a:off x="1628206" y="2029641"/>
          <a:ext cx="9226506" cy="1660615"/>
        </a:xfrm>
        <a:prstGeom prst="roundRect">
          <a:avLst>
            <a:gd name="adj" fmla="val 10000"/>
          </a:avLst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 dirty="0">
              <a:solidFill>
                <a:srgbClr val="FFFF00"/>
              </a:solidFill>
            </a:rPr>
            <a:t>Learning Outcome 2: </a:t>
          </a:r>
          <a:r>
            <a:rPr lang="en-US" sz="2800" kern="1200" dirty="0">
              <a:latin typeface="Comic Sans MS" panose="030F0702030302020204" pitchFamily="66" charset="0"/>
            </a:rPr>
            <a:t>Describe major features and advantages of Python.</a:t>
          </a:r>
          <a:endParaRPr lang="en-IN" sz="3200" kern="1200" spc="-50" baseline="0" dirty="0">
            <a:solidFill>
              <a:schemeClr val="bg1"/>
            </a:solidFill>
            <a:latin typeface="Comic Sans MS" panose="030F0702030302020204" pitchFamily="66" charset="0"/>
            <a:ea typeface="+mj-ea"/>
            <a:cs typeface="+mj-cs"/>
          </a:endParaRPr>
        </a:p>
      </dsp:txBody>
      <dsp:txXfrm>
        <a:off x="1676844" y="2078279"/>
        <a:ext cx="6421622" cy="1563339"/>
      </dsp:txXfrm>
    </dsp:sp>
    <dsp:sp modelId="{38D8FA70-234F-4000-93A9-1CC368BF0D65}">
      <dsp:nvSpPr>
        <dsp:cNvPr id="0" name=""/>
        <dsp:cNvSpPr/>
      </dsp:nvSpPr>
      <dsp:spPr>
        <a:xfrm>
          <a:off x="8147105" y="1305428"/>
          <a:ext cx="1079400" cy="107940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600" kern="1200"/>
        </a:p>
      </dsp:txBody>
      <dsp:txXfrm>
        <a:off x="8389970" y="1305428"/>
        <a:ext cx="593670" cy="812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13290F-4953-45EF-B899-CB1249D15352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1F983-67CA-471A-A41C-D03FD9C21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23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E1119-95D6-CC62-728E-399DF7CE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A840D8-BC72-CBBB-52EF-FC4572200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2B900-C185-5DBB-F23C-6B17E555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02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3F23B-17DC-75CE-EA39-6684EFF4E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3F48F-1831-6F8A-F386-5C1B58EFA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1709EB-8558-CEF4-9454-8A027C930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642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857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785D5-4C4D-B63D-4588-047BA3DD7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E14E9-5F55-24E1-91CA-BC0C05EF6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33DF15-4000-1B8A-013A-F5A12F1F5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322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11FF8-6F51-F8C6-6002-E9FA5325F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EE7D4-484D-14F8-1567-B38C13EEB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9FA4E-2E0F-957C-0EA3-F9D6AB02B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16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B7A48-892B-0C68-3305-E115FDA6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560A7-221F-BBD6-4E04-D3C483D9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0225F-19D0-5915-66EE-AA4B5DFFC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28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FD06F-758B-6F25-0458-2C2A042A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15CD93-9057-48F5-43AA-5D905540E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2206FF-AA70-E0D2-F910-9A0751607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404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9608-9C37-B623-F558-60E91C3F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C51F8-E056-174D-3B9A-AD1B7FA6E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7DB29-C975-3CB5-0587-44D0D58AC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56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301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25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84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90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34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612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422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3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45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447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75C6EA-CC72-7503-F2FD-B62E9A4572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9085A21-D7DC-860A-0531-F7DF76979B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813" y="149187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47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09381" y="5911327"/>
            <a:ext cx="739184" cy="629322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975D1-7BA1-AA39-E6A6-4C2BD5621C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61E1F-F2D4-CA8F-16FC-D818D50F6D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33487" y="6356350"/>
            <a:ext cx="2307515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0647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1DAF93-1CBA-7B88-4CBA-FD063FCA8A3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9152D-2767-A6B6-0ABE-E9F9BCA5A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339788" cy="410780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6C530D-C5D9-3A8E-BFEE-D5C03A95495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39773" y="6336254"/>
            <a:ext cx="484095" cy="398032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5001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257878" y="6104965"/>
            <a:ext cx="780795" cy="50560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CA864-09E2-0E82-C92B-2CA90A12F04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336EF-CFE6-B577-3274-CF41EA6D92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316339" cy="419548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611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6CDE17-F158-2784-2CCE-B8AC65C9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2312893" cy="365125"/>
          </a:xfrm>
        </p:spPr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02BBF-A77B-3676-9044-25220DBC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1417" y="5981253"/>
            <a:ext cx="977322" cy="740222"/>
          </a:xfrm>
        </p:spPr>
        <p:txBody>
          <a:bodyPr/>
          <a:lstStyle>
            <a:lvl1pPr>
              <a:defRPr sz="1300" baseline="0"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234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116ECD-6B82-4D62-8ACE-BC825136839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2603396-F198-48DB-863E-E5F921B1257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98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jpeg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png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3.jpeg"/><Relationship Id="rId9" Type="http://schemas.microsoft.com/office/2007/relationships/diagramDrawing" Target="../diagrams/drawing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Introduction to python-</a:t>
            </a:r>
            <a:r>
              <a:rPr lang="en-IN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History, Features</a:t>
            </a:r>
            <a:br>
              <a:rPr lang="en-US" sz="4000" dirty="0">
                <a:solidFill>
                  <a:srgbClr val="FF0000"/>
                </a:solidFill>
                <a:latin typeface="Comic Sans MS" panose="030F0702030302020204" pitchFamily="66" charset="0"/>
              </a:rPr>
            </a:br>
            <a:br>
              <a:rPr lang="en-US" sz="2800" dirty="0"/>
            </a:br>
            <a:endParaRPr lang="en-US" sz="4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85C8FCE-D8B6-E820-DD1E-49ADD8DEA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732" y="125638"/>
            <a:ext cx="1190469" cy="11904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D13C77-5584-2E97-6EAE-6617012A8968}"/>
              </a:ext>
            </a:extLst>
          </p:cNvPr>
          <p:cNvSpPr txBox="1"/>
          <p:nvPr/>
        </p:nvSpPr>
        <p:spPr>
          <a:xfrm>
            <a:off x="7519662" y="4738000"/>
            <a:ext cx="47253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 Python Programming</a:t>
            </a:r>
            <a:b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- E1UA311C </a:t>
            </a:r>
          </a:p>
          <a:p>
            <a:r>
              <a:rPr lang="en-IN" sz="14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</a:t>
            </a:r>
            <a:r>
              <a:rPr lang="en-IN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Name:  </a:t>
            </a:r>
            <a: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  <a:t>Pooja Vajpayee</a:t>
            </a:r>
            <a:br>
              <a:rPr lang="en-IN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 </a:t>
            </a:r>
            <a: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  <a:t>50 Mins</a:t>
            </a:r>
            <a:br>
              <a:rPr lang="en-US" sz="1400" b="1" dirty="0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US" sz="1400" dirty="0">
                <a:solidFill>
                  <a:srgbClr val="7030A0"/>
                </a:solidFill>
                <a:latin typeface="Roboto" panose="02000000000000000000" pitchFamily="2" charset="0"/>
              </a:rPr>
            </a:br>
            <a:endParaRPr lang="en-IN" sz="1400" dirty="0">
              <a:solidFill>
                <a:srgbClr val="7030A0"/>
              </a:solidFill>
              <a:latin typeface="Roboto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9B8FD7-4EAA-45DB-0A17-74283D4AC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78" y="3869871"/>
            <a:ext cx="2700911" cy="266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CC0D-731A-5612-0227-FB98B5FC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19022-1E0A-D888-4058-A381CC9F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CC5E1-D161-A371-3502-DAEF2F4A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0305001-6C7C-0BB9-2F3D-F68FF7E85C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49FE98-77AE-0206-DFD9-253F7F41E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12D279F-91F6-369A-C8EE-2EA4470D6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259" y="1369607"/>
            <a:ext cx="5427678" cy="89147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mic Sans MS" panose="030F0702030302020204" pitchFamily="66" charset="0"/>
              </a:rPr>
              <a:t>Recap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38D467-AB90-0FE4-F279-BC95EF08C456}"/>
              </a:ext>
            </a:extLst>
          </p:cNvPr>
          <p:cNvSpPr/>
          <p:nvPr/>
        </p:nvSpPr>
        <p:spPr>
          <a:xfrm>
            <a:off x="549559" y="2467468"/>
            <a:ext cx="112513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Introduction to the Course</a:t>
            </a:r>
            <a:endParaRPr lang="en-US" sz="2400" dirty="0">
              <a:latin typeface="Cambria" panose="02040503050406030204" pitchFamily="18" charset="0"/>
            </a:endParaRPr>
          </a:p>
          <a:p>
            <a:pPr algn="just"/>
            <a:endParaRPr lang="en-IN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93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B5FA9-6EC0-5772-5450-FC3CD4E50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732248"/>
            <a:ext cx="6583680" cy="4309736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Opening Question</a:t>
            </a:r>
          </a:p>
          <a:p>
            <a:endParaRPr lang="en-US" dirty="0"/>
          </a:p>
          <a:p>
            <a:r>
              <a:rPr lang="en-US" dirty="0"/>
              <a:t>💡   </a:t>
            </a:r>
            <a:r>
              <a:rPr lang="en-US" b="1" dirty="0"/>
              <a:t>"</a:t>
            </a:r>
            <a:r>
              <a:rPr lang="en-US" dirty="0"/>
              <a:t>Have you ever used a mobile app or website and wondered what programming language powers it? What do you think makes Python one of the most popular choices for developers today?</a:t>
            </a:r>
            <a:r>
              <a:rPr lang="en-US" b="1" dirty="0"/>
              <a:t>"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802B9-5171-F7A0-775B-AC6C9B7013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9B183-A48D-A7C8-9ECC-B370179225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IN"/>
              <a:t>Prepared By -- Pooja Vajpayee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D8D2AF-C560-7648-AB9C-0AF4AB05B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EEEDE06-D284-B09B-B77A-C8BECEEA2C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495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3719E-5093-51ED-6170-B3AB02ED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1116-A2B0-7D78-595C-5E553BBE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9882335" cy="862397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At the end of this session students will be able to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5135A-AC96-F93F-6AC3-06951733299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48865" y="6099786"/>
            <a:ext cx="920078" cy="64178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4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C31B1-E024-809F-CD08-FE4ACAE2366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graphicFrame>
        <p:nvGraphicFramePr>
          <p:cNvPr id="11" name="Title 1">
            <a:extLst>
              <a:ext uri="{FF2B5EF4-FFF2-40B4-BE49-F238E27FC236}">
                <a16:creationId xmlns:a16="http://schemas.microsoft.com/office/drawing/2014/main" id="{7B0944F7-1217-E574-AF25-55C89102E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8670922"/>
              </p:ext>
            </p:extLst>
          </p:nvPr>
        </p:nvGraphicFramePr>
        <p:xfrm>
          <a:off x="644056" y="2419469"/>
          <a:ext cx="10760386" cy="3885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8A5FE3F-EF66-199F-5997-452F7820F9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111" y="41078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7C1312B-286D-382C-F44D-21FF76FBEA4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76" y="18372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20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66F82-479D-092A-2FA7-4FBFA5A9E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C9F83-5003-0F4A-398B-44A1BF1FFB5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353901" y="6404624"/>
            <a:ext cx="1732082" cy="410780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5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43B7D-1BBB-D70F-39AA-8ED3326A8BB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4A2C2C-E16E-7706-87FC-A9935D6C1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987" y="617318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Session Outline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15A284-FE57-4D43-4EF1-3FEB48F7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23" y="428727"/>
            <a:ext cx="2215421" cy="612478"/>
          </a:xfrm>
          <a:prstGeom prst="rect">
            <a:avLst/>
          </a:prstGeom>
        </p:spPr>
      </p:pic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A6F37EF-E43F-C8DB-8A2D-90DD3C5F04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095" y="193015"/>
            <a:ext cx="874732" cy="874732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B67CA83-328F-3A70-34D2-B9F692D479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464297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03863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FEC6-C412-D6E2-81F0-9EF722FC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3128" y="0"/>
            <a:ext cx="10058400" cy="1450757"/>
          </a:xfrm>
        </p:spPr>
        <p:txBody>
          <a:bodyPr/>
          <a:lstStyle/>
          <a:p>
            <a:r>
              <a:rPr lang="en-US" dirty="0">
                <a:latin typeface="Bahnschrift SemiCondensed" panose="020B0502040204020203" pitchFamily="34" charset="0"/>
              </a:rPr>
              <a:t>CONTENT                              </a:t>
            </a:r>
            <a:endParaRPr lang="en-IN" dirty="0">
              <a:latin typeface="Bahnschrift Semi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D63A7-816E-4DF3-7156-0866BE1B6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257214"/>
            <a:ext cx="10058400" cy="4023360"/>
          </a:xfrm>
        </p:spPr>
        <p:txBody>
          <a:bodyPr>
            <a:normAutofit/>
          </a:bodyPr>
          <a:lstStyle/>
          <a:p>
            <a:r>
              <a:rPr lang="en-US" dirty="0"/>
              <a:t>. What is Python</a:t>
            </a:r>
          </a:p>
          <a:p>
            <a:r>
              <a:rPr lang="en-US" dirty="0"/>
              <a:t>. History of Python</a:t>
            </a:r>
          </a:p>
          <a:p>
            <a:r>
              <a:rPr lang="en-US" dirty="0"/>
              <a:t>. Features </a:t>
            </a:r>
          </a:p>
          <a:p>
            <a:r>
              <a:rPr lang="en-US" dirty="0"/>
              <a:t>. Scope of Python</a:t>
            </a:r>
          </a:p>
          <a:p>
            <a:r>
              <a:rPr lang="en-US" dirty="0"/>
              <a:t>. Why do people use python</a:t>
            </a:r>
          </a:p>
          <a:p>
            <a:r>
              <a:rPr lang="en-US" dirty="0"/>
              <a:t>. Applications </a:t>
            </a:r>
          </a:p>
          <a:p>
            <a:r>
              <a:rPr lang="en-US" dirty="0"/>
              <a:t>. What can I do with Python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7EA4E-A7FB-F8BC-A08F-38D637C8B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121" y="-489461"/>
            <a:ext cx="2791010" cy="2791010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42231C3-E855-0741-9EEC-319DF4D8F3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DDF059-4A34-4A50-F0C8-4C02C722E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31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CFEA-8DDB-E65A-CA46-2B8CFA4AC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hnschrift SemiCondensed" panose="020B0502040204020203" pitchFamily="34" charset="0"/>
              </a:rPr>
              <a:t>                         What is Python</a:t>
            </a:r>
            <a:endParaRPr lang="en-IN" b="1" dirty="0">
              <a:latin typeface="Bahnschrift Semi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79269-E4AA-4970-BA9C-B60644023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408" y="2238926"/>
            <a:ext cx="13286232" cy="4023360"/>
          </a:xfrm>
        </p:spPr>
        <p:txBody>
          <a:bodyPr/>
          <a:lstStyle/>
          <a:p>
            <a:r>
              <a:rPr lang="en-US" sz="3200" dirty="0"/>
              <a:t>.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Python is high-level language.</a:t>
            </a:r>
          </a:p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. Python is a general-purpose programming language that in</a:t>
            </a:r>
          </a:p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  often applied in scripting roles.</a:t>
            </a:r>
          </a:p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. So, python is programming language as well as </a:t>
            </a:r>
          </a:p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  scripting language.</a:t>
            </a:r>
          </a:p>
          <a:p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. Python is also called as Interpreted language.</a:t>
            </a:r>
          </a:p>
          <a:p>
            <a:endParaRPr lang="en-US" sz="3200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95281-14D7-696E-AB03-73DA0AB21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036" y="-501257"/>
            <a:ext cx="2791010" cy="2791010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3C78F55-4282-CC16-7161-2663E8D9CC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5C1374-2BFB-1E8B-C4E6-A895CCB6E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233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39F1-C4C0-D701-684D-CA05B751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40883"/>
            <a:ext cx="10058400" cy="1450757"/>
          </a:xfrm>
        </p:spPr>
        <p:txBody>
          <a:bodyPr/>
          <a:lstStyle/>
          <a:p>
            <a:r>
              <a:rPr lang="en-US" dirty="0"/>
              <a:t>                       </a:t>
            </a:r>
            <a:r>
              <a:rPr lang="en-US" b="1" dirty="0">
                <a:latin typeface="Bahnschrift SemiCondensed" panose="020B0502040204020203" pitchFamily="34" charset="0"/>
              </a:rPr>
              <a:t>History</a:t>
            </a:r>
            <a:r>
              <a:rPr lang="en-US" b="1" dirty="0"/>
              <a:t> of Python                   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A04D2-38E4-D1FF-2502-7FE008424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68694"/>
            <a:ext cx="10058400" cy="4023360"/>
          </a:xfrm>
        </p:spPr>
        <p:txBody>
          <a:bodyPr/>
          <a:lstStyle/>
          <a:p>
            <a:r>
              <a:rPr lang="en-US" dirty="0"/>
              <a:t>. Invented in the Netherlands, early 90s by Guido Van Rossum.</a:t>
            </a:r>
          </a:p>
          <a:p>
            <a:r>
              <a:rPr lang="en-US" dirty="0"/>
              <a:t>. Python was conceived in the late 1980s and its implementation was started in 1991.</a:t>
            </a:r>
          </a:p>
          <a:p>
            <a:r>
              <a:rPr lang="en-US" dirty="0"/>
              <a:t>. Guido Van Rossum is fan of ‘Monty Python’s Flying Circus’, this is a famous TV show in</a:t>
            </a:r>
          </a:p>
          <a:p>
            <a:r>
              <a:rPr lang="en-US" dirty="0"/>
              <a:t>   Netherlands.</a:t>
            </a:r>
          </a:p>
          <a:p>
            <a:r>
              <a:rPr lang="en-US" dirty="0"/>
              <a:t>. Named after Monty Python.</a:t>
            </a:r>
          </a:p>
          <a:p>
            <a:r>
              <a:rPr lang="en-US" dirty="0"/>
              <a:t>. Opens sourced from the beginning.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09722-9923-D8D2-62A7-A00F2D730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710" y="-517032"/>
            <a:ext cx="2791010" cy="2791010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5818D51-6B6B-640A-CE01-4C1E9C60CD0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A79C36-2D31-9DBC-BF7D-8E0D2C95D6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17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5F18-3558-2233-EA66-FC4D53A3F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072" y="277459"/>
            <a:ext cx="10058400" cy="1450757"/>
          </a:xfrm>
        </p:spPr>
        <p:txBody>
          <a:bodyPr/>
          <a:lstStyle/>
          <a:p>
            <a:r>
              <a:rPr lang="en-US" b="1" dirty="0">
                <a:latin typeface="Bahnschrift SemiCondensed" panose="020B0502040204020203" pitchFamily="34" charset="0"/>
              </a:rPr>
              <a:t>                      Features     </a:t>
            </a:r>
            <a:endParaRPr lang="en-IN" b="1" dirty="0">
              <a:latin typeface="Bahnschrift Semi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C6657-CA7F-135A-06AE-EA7EC0926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 Easy to Code</a:t>
            </a:r>
          </a:p>
          <a:p>
            <a:r>
              <a:rPr lang="en-US" dirty="0"/>
              <a:t>. Easy to Read</a:t>
            </a:r>
          </a:p>
          <a:p>
            <a:r>
              <a:rPr lang="en-US" dirty="0"/>
              <a:t>. Free and Open source</a:t>
            </a:r>
          </a:p>
          <a:p>
            <a:r>
              <a:rPr lang="en-US" dirty="0"/>
              <a:t>. Robust Standard Library</a:t>
            </a:r>
          </a:p>
          <a:p>
            <a:r>
              <a:rPr lang="en-US" dirty="0"/>
              <a:t>. Interpreted</a:t>
            </a:r>
          </a:p>
          <a:p>
            <a:r>
              <a:rPr lang="en-US" dirty="0"/>
              <a:t>. Portable</a:t>
            </a:r>
          </a:p>
          <a:p>
            <a:r>
              <a:rPr lang="en-US" dirty="0"/>
              <a:t>. Object-Oriented and Procedure-Oriented</a:t>
            </a:r>
          </a:p>
          <a:p>
            <a:r>
              <a:rPr lang="en-US" dirty="0"/>
              <a:t>. Extensible</a:t>
            </a:r>
          </a:p>
          <a:p>
            <a:r>
              <a:rPr lang="en-US" dirty="0"/>
              <a:t>. High-level language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17CAA-BEAC-242C-5DD3-D495A4B24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6402" y="-478932"/>
            <a:ext cx="2791010" cy="2791010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3FA375C-EA19-4A27-2588-0C00F24088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2DAE2C-35D8-6D74-E38E-F4024121F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91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353E-CF89-80F9-0866-0088895F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6716" y="91294"/>
            <a:ext cx="10058400" cy="1450757"/>
          </a:xfrm>
        </p:spPr>
        <p:txBody>
          <a:bodyPr/>
          <a:lstStyle/>
          <a:p>
            <a:r>
              <a:rPr lang="en-US" dirty="0">
                <a:latin typeface="Bahnschrift SemiCondensed" panose="020B0502040204020203" pitchFamily="34" charset="0"/>
              </a:rPr>
              <a:t>                              Scope of Python</a:t>
            </a:r>
            <a:endParaRPr lang="en-IN" dirty="0">
              <a:latin typeface="Bahnschrift Semi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94B5D4-4380-D5CA-0AAC-EC7A1B9E5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1607" y="-478932"/>
            <a:ext cx="2791010" cy="279101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3F5B5D-1E46-8CC7-770C-A6FEA6B9E259}"/>
              </a:ext>
            </a:extLst>
          </p:cNvPr>
          <p:cNvSpPr/>
          <p:nvPr/>
        </p:nvSpPr>
        <p:spPr>
          <a:xfrm>
            <a:off x="4811697" y="1883677"/>
            <a:ext cx="2334827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13B58A-1235-50FA-ABB8-BD5175A23671}"/>
              </a:ext>
            </a:extLst>
          </p:cNvPr>
          <p:cNvSpPr/>
          <p:nvPr/>
        </p:nvSpPr>
        <p:spPr>
          <a:xfrm>
            <a:off x="1451869" y="3243438"/>
            <a:ext cx="2334827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development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A45E21-C568-2508-9B63-15DF5FD4B10A}"/>
              </a:ext>
            </a:extLst>
          </p:cNvPr>
          <p:cNvSpPr/>
          <p:nvPr/>
        </p:nvSpPr>
        <p:spPr>
          <a:xfrm>
            <a:off x="8248838" y="3243438"/>
            <a:ext cx="2334827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Chatbots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D25701-F92F-A8FB-F70F-D78DD308DB0E}"/>
              </a:ext>
            </a:extLst>
          </p:cNvPr>
          <p:cNvSpPr/>
          <p:nvPr/>
        </p:nvSpPr>
        <p:spPr>
          <a:xfrm>
            <a:off x="440923" y="4993820"/>
            <a:ext cx="2334827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Chatbots</a:t>
            </a:r>
            <a:endParaRPr lang="en-IN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C1390AB-D0FD-D414-B656-DB27C705F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574" y="4993821"/>
            <a:ext cx="2334827" cy="45719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 algn="ctr">
              <a:buNone/>
            </a:pPr>
            <a:r>
              <a:rPr lang="en-US" dirty="0"/>
              <a:t>Selenium</a:t>
            </a:r>
            <a:r>
              <a:rPr lang="en-IN" dirty="0"/>
              <a:t> Automation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14E908-2EEB-656F-DACD-A514CC120B2C}"/>
              </a:ext>
            </a:extLst>
          </p:cNvPr>
          <p:cNvSpPr/>
          <p:nvPr/>
        </p:nvSpPr>
        <p:spPr>
          <a:xfrm>
            <a:off x="6457383" y="4993820"/>
            <a:ext cx="2334827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Scientist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158960E-59A2-5D24-935A-27ED7747C844}"/>
              </a:ext>
            </a:extLst>
          </p:cNvPr>
          <p:cNvSpPr/>
          <p:nvPr/>
        </p:nvSpPr>
        <p:spPr>
          <a:xfrm>
            <a:off x="9382193" y="4993820"/>
            <a:ext cx="2334827" cy="457200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Desktop Application</a:t>
            </a:r>
            <a:endParaRPr lang="en-IN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57E93D1-7DAF-3124-274A-DE9334DB5865}"/>
              </a:ext>
            </a:extLst>
          </p:cNvPr>
          <p:cNvCxnSpPr>
            <a:cxnSpLocks/>
          </p:cNvCxnSpPr>
          <p:nvPr/>
        </p:nvCxnSpPr>
        <p:spPr>
          <a:xfrm flipH="1" flipV="1">
            <a:off x="5965054" y="2312078"/>
            <a:ext cx="14056" cy="23664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D40382-FFB0-3D27-66DF-CFA248618CC2}"/>
              </a:ext>
            </a:extLst>
          </p:cNvPr>
          <p:cNvCxnSpPr>
            <a:cxnSpLocks/>
          </p:cNvCxnSpPr>
          <p:nvPr/>
        </p:nvCxnSpPr>
        <p:spPr>
          <a:xfrm>
            <a:off x="1245089" y="4678532"/>
            <a:ext cx="98963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6B6B410-1DA0-6012-A2E4-C708EDAFD4F5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786696" y="3472038"/>
            <a:ext cx="44621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852ADD8-4DCD-1BB8-3B3F-87DA95D17CE9}"/>
              </a:ext>
            </a:extLst>
          </p:cNvPr>
          <p:cNvCxnSpPr>
            <a:cxnSpLocks/>
          </p:cNvCxnSpPr>
          <p:nvPr/>
        </p:nvCxnSpPr>
        <p:spPr>
          <a:xfrm flipV="1">
            <a:off x="1245089" y="4669654"/>
            <a:ext cx="0" cy="367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0B11054-BA1B-C748-0C31-A632EDA30D99}"/>
              </a:ext>
            </a:extLst>
          </p:cNvPr>
          <p:cNvCxnSpPr>
            <a:cxnSpLocks/>
          </p:cNvCxnSpPr>
          <p:nvPr/>
        </p:nvCxnSpPr>
        <p:spPr>
          <a:xfrm flipV="1">
            <a:off x="4611205" y="4659733"/>
            <a:ext cx="0" cy="367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E307563-4D96-0D61-3BFC-A61CCD3A0A92}"/>
              </a:ext>
            </a:extLst>
          </p:cNvPr>
          <p:cNvCxnSpPr>
            <a:cxnSpLocks/>
          </p:cNvCxnSpPr>
          <p:nvPr/>
        </p:nvCxnSpPr>
        <p:spPr>
          <a:xfrm flipV="1">
            <a:off x="7624796" y="4659733"/>
            <a:ext cx="0" cy="367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AA295AF-80F7-5EAA-D23C-0FE509B536CC}"/>
              </a:ext>
            </a:extLst>
          </p:cNvPr>
          <p:cNvCxnSpPr>
            <a:cxnSpLocks/>
          </p:cNvCxnSpPr>
          <p:nvPr/>
        </p:nvCxnSpPr>
        <p:spPr>
          <a:xfrm flipV="1">
            <a:off x="11141476" y="4659733"/>
            <a:ext cx="0" cy="3678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93F13F7-9E37-EBE6-13A8-6A18B95CDD01}"/>
              </a:ext>
            </a:extLst>
          </p:cNvPr>
          <p:cNvSpPr/>
          <p:nvPr/>
        </p:nvSpPr>
        <p:spPr>
          <a:xfrm>
            <a:off x="6033924" y="2272202"/>
            <a:ext cx="1536058" cy="4228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Language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5E5256-EB5F-68EB-6617-E9832B2121EF}"/>
              </a:ext>
            </a:extLst>
          </p:cNvPr>
          <p:cNvSpPr/>
          <p:nvPr/>
        </p:nvSpPr>
        <p:spPr>
          <a:xfrm>
            <a:off x="9815636" y="3557070"/>
            <a:ext cx="1536058" cy="4228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NLTK library</a:t>
            </a:r>
            <a:endParaRPr lang="en-IN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BCEE57-6AAD-B52C-9153-3238C17E8102}"/>
              </a:ext>
            </a:extLst>
          </p:cNvPr>
          <p:cNvSpPr/>
          <p:nvPr/>
        </p:nvSpPr>
        <p:spPr>
          <a:xfrm>
            <a:off x="3073481" y="3647896"/>
            <a:ext cx="1536058" cy="4228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Django Framework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184D7F-4975-DDFC-A302-B09EA1B49A52}"/>
              </a:ext>
            </a:extLst>
          </p:cNvPr>
          <p:cNvSpPr/>
          <p:nvPr/>
        </p:nvSpPr>
        <p:spPr>
          <a:xfrm>
            <a:off x="1824699" y="5377075"/>
            <a:ext cx="1536058" cy="42283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Game Developer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419AEF-E1C1-36CC-78E3-7C297A2CDA79}"/>
              </a:ext>
            </a:extLst>
          </p:cNvPr>
          <p:cNvSpPr/>
          <p:nvPr/>
        </p:nvSpPr>
        <p:spPr>
          <a:xfrm>
            <a:off x="7713578" y="5377075"/>
            <a:ext cx="1536058" cy="4228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ML and DL</a:t>
            </a:r>
            <a:endParaRPr lang="en-I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31A0AB-934C-CD29-A25E-67ED45140054}"/>
              </a:ext>
            </a:extLst>
          </p:cNvPr>
          <p:cNvSpPr/>
          <p:nvPr/>
        </p:nvSpPr>
        <p:spPr>
          <a:xfrm>
            <a:off x="10505831" y="5382419"/>
            <a:ext cx="1536058" cy="4228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Kivy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C387D9E-F160-99E7-485A-5F0F53ECE870}"/>
              </a:ext>
            </a:extLst>
          </p:cNvPr>
          <p:cNvSpPr/>
          <p:nvPr/>
        </p:nvSpPr>
        <p:spPr>
          <a:xfrm>
            <a:off x="4629207" y="5378426"/>
            <a:ext cx="1536058" cy="42283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Robot Framework</a:t>
            </a:r>
            <a:endParaRPr lang="en-IN" dirty="0"/>
          </a:p>
        </p:txBody>
      </p:sp>
      <p:pic>
        <p:nvPicPr>
          <p:cNvPr id="3" name="Picture 2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6FAB2FE-3F52-F61D-CBB0-2174F86134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2145D1-C251-FCC9-EC2D-FBC90FDB63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16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E4B94-41F2-62F5-35FA-30221B7B1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796" y="263527"/>
            <a:ext cx="10058400" cy="1450757"/>
          </a:xfrm>
        </p:spPr>
        <p:txBody>
          <a:bodyPr/>
          <a:lstStyle/>
          <a:p>
            <a:r>
              <a:rPr lang="en-US" b="1" dirty="0">
                <a:latin typeface="Bahnschrift SemiCondensed" panose="020B0502040204020203" pitchFamily="34" charset="0"/>
              </a:rPr>
              <a:t>         Why do people use python</a:t>
            </a:r>
            <a:endParaRPr lang="en-IN" b="1" dirty="0">
              <a:latin typeface="Bahnschrift Semi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1645D-D1C8-8891-B416-A99EC7272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5765" y="1945104"/>
            <a:ext cx="7336506" cy="4279097"/>
          </a:xfrm>
        </p:spPr>
        <p:txBody>
          <a:bodyPr/>
          <a:lstStyle/>
          <a:p>
            <a:r>
              <a:rPr lang="en-US" dirty="0"/>
              <a:t> The following Primary factors cited by Python users</a:t>
            </a:r>
            <a:r>
              <a:rPr lang="en-IN" dirty="0"/>
              <a:t> seem to be </a:t>
            </a:r>
          </a:p>
          <a:p>
            <a:r>
              <a:rPr lang="en-IN" dirty="0"/>
              <a:t>  these      </a:t>
            </a:r>
          </a:p>
          <a:p>
            <a:r>
              <a:rPr lang="en-IN" dirty="0">
                <a:solidFill>
                  <a:schemeClr val="accent2"/>
                </a:solidFill>
              </a:rPr>
              <a:t>. Python is object-oriented:-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/>
                </a:solidFill>
              </a:rPr>
              <a:t>    </a:t>
            </a:r>
            <a:r>
              <a:rPr lang="en-IN" dirty="0">
                <a:solidFill>
                  <a:schemeClr val="tx1"/>
                </a:solidFill>
              </a:rPr>
              <a:t>Structure supports such concepts as polymorphism, operation 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overloading and multiple inheritance.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  . It’s free (open source):-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 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Downloading and installing Python is free and easy Source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code is easily accessible.</a:t>
            </a:r>
            <a:endParaRPr lang="en-IN" dirty="0">
              <a:solidFill>
                <a:schemeClr val="accent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A1C04C-D08A-37A1-F72D-DE74974AA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144" y="-500703"/>
            <a:ext cx="2791010" cy="2791010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F73DA9A-1DC6-31F4-0C7C-7D77FEEFAB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788" y="187639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88A890-61CA-5E47-0585-1F70B6CC9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343" y="376427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66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7D892-1B21-ADCC-8028-E8E1F4BA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2201470" cy="487466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. It’s powerful:-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Dynamic typing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Built –in types and tools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Library utilities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Third party utilities (e.g. Numeric, NumPy, SciPy) 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- Automatic memory management </a:t>
            </a:r>
          </a:p>
          <a:p>
            <a:r>
              <a:rPr lang="en-US" dirty="0">
                <a:solidFill>
                  <a:schemeClr val="accent1"/>
                </a:solidFill>
              </a:rPr>
              <a:t>. It’s portable:-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Python runs virtually every major platforms used today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As long as you have a compatible Python interpreter installed, Python programs will run in exactly the same </a:t>
            </a:r>
          </a:p>
          <a:p>
            <a:r>
              <a:rPr lang="en-US" dirty="0">
                <a:solidFill>
                  <a:schemeClr val="accent1"/>
                </a:solidFill>
              </a:rPr>
              <a:t>  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manner, irrespective of platform.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0DB414-6E02-ACBC-31A6-F815D2C1F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982" y="-445681"/>
            <a:ext cx="2791010" cy="2791010"/>
          </a:xfrm>
          <a:prstGeom prst="rect">
            <a:avLst/>
          </a:prstGeom>
        </p:spPr>
      </p:pic>
      <p:pic>
        <p:nvPicPr>
          <p:cNvPr id="2" name="Picture 1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749F274-D294-3CED-1B17-A5A56CF1FF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FEA18E-2595-613E-2DDE-004FB662E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37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DB337-E7F9-311A-E2BC-7FAD9284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</a:t>
            </a:r>
            <a:r>
              <a:rPr lang="en-US" b="1" dirty="0">
                <a:latin typeface="Bahnschrift SemiCondensed" panose="020B0502040204020203" pitchFamily="34" charset="0"/>
              </a:rPr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C5D3D-128C-6368-026F-51002C17C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4934" y="2058798"/>
            <a:ext cx="10469880" cy="43173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. Web Development </a:t>
            </a:r>
          </a:p>
          <a:p>
            <a:r>
              <a:rPr lang="en-US" dirty="0"/>
              <a:t>. Game development </a:t>
            </a:r>
          </a:p>
          <a:p>
            <a:r>
              <a:rPr lang="en-US" dirty="0"/>
              <a:t>. Machine Learning and Artificial Intelligence</a:t>
            </a:r>
          </a:p>
          <a:p>
            <a:r>
              <a:rPr lang="en-US" dirty="0"/>
              <a:t>. Data Science and Data Visualization</a:t>
            </a:r>
          </a:p>
          <a:p>
            <a:r>
              <a:rPr lang="en-US" dirty="0"/>
              <a:t>. Desktop GUI</a:t>
            </a:r>
          </a:p>
          <a:p>
            <a:r>
              <a:rPr lang="en-US" dirty="0"/>
              <a:t>. Web Scraping Applications</a:t>
            </a:r>
          </a:p>
          <a:p>
            <a:r>
              <a:rPr lang="en-US" dirty="0"/>
              <a:t>. Business Applications</a:t>
            </a:r>
          </a:p>
          <a:p>
            <a:r>
              <a:rPr lang="en-US" dirty="0"/>
              <a:t>. Audio and Video Applications</a:t>
            </a:r>
          </a:p>
          <a:p>
            <a:r>
              <a:rPr lang="en-US" dirty="0"/>
              <a:t>. CAD Applications</a:t>
            </a:r>
          </a:p>
          <a:p>
            <a:r>
              <a:rPr lang="en-US" dirty="0"/>
              <a:t>. Embedded 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A1D5C2-6D82-F89E-BE27-B218CFB19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710" y="-576903"/>
            <a:ext cx="2791010" cy="2791010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0BC2AEC-E816-9C82-9534-2A5C7C9259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CB537C-9A56-3EBA-E5C5-46ED98C1F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86" y="559974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542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E63B-657F-673A-1CD7-33DF7752A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Bahnschrift SemiCondensed" panose="020B0502040204020203" pitchFamily="34" charset="0"/>
              </a:rPr>
              <a:t>What can I do with Python….?</a:t>
            </a:r>
            <a:endParaRPr lang="en-IN" b="1" dirty="0">
              <a:latin typeface="Bahnschrift Semi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69B3-D1A8-150C-175B-0F1895233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476048"/>
            <a:ext cx="10058400" cy="4023360"/>
          </a:xfrm>
        </p:spPr>
        <p:txBody>
          <a:bodyPr/>
          <a:lstStyle/>
          <a:p>
            <a:r>
              <a:rPr lang="en-US" dirty="0"/>
              <a:t>. System Programming</a:t>
            </a:r>
          </a:p>
          <a:p>
            <a:r>
              <a:rPr lang="en-US" dirty="0"/>
              <a:t>. Graphical User Interface Programming</a:t>
            </a:r>
          </a:p>
          <a:p>
            <a:r>
              <a:rPr lang="en-US" dirty="0"/>
              <a:t>. Component Integration</a:t>
            </a:r>
          </a:p>
          <a:p>
            <a:r>
              <a:rPr lang="en-US" dirty="0"/>
              <a:t>. Internet Scripting</a:t>
            </a:r>
          </a:p>
          <a:p>
            <a:r>
              <a:rPr lang="en-US" dirty="0"/>
              <a:t>. Database Programming</a:t>
            </a:r>
          </a:p>
          <a:p>
            <a:r>
              <a:rPr lang="en-US" dirty="0"/>
              <a:t>. Gaming, Images, XML, Robot and more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073B4F-2133-3FC9-6B69-4FD438C348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3710" y="-462604"/>
            <a:ext cx="2791010" cy="2791010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8CED3C7-0990-5194-94B8-6672CB02C2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39F529-C7AD-187A-AC2E-9C3E9E2294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143" y="222517"/>
            <a:ext cx="2215421" cy="61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1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4" y="1351722"/>
            <a:ext cx="7796464" cy="87464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1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3AA8E-2D4F-F1F8-165E-1A896DEA1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438FFB-A0BF-F698-37C1-7384515379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3254C-A306-938E-24AC-3C807AEE7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48" y="457199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ABE2697-097D-0FAA-2255-1A36B83A93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804D7D-CCCD-4B95-5554-0401E88EC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51" y="2655366"/>
            <a:ext cx="7115777" cy="303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99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A5A6B-7EB8-42E0-4ADC-A542DE2B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FDDD7-6EDB-B6C3-2E9D-6749EA512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450" y="1789042"/>
            <a:ext cx="7796464" cy="150506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 Reflection-</a:t>
            </a:r>
            <a:b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Learning Activity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D5A477-F560-E8CB-DF0B-717C9B17A8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854B97-661E-CCA9-DC92-875DDCF23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3C33E-167B-A24A-0723-06BFFB587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28" y="622449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FAF6C17-69F6-2690-E541-2F9EE5752C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057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E00A-11B4-D330-A150-D236B778B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94CA-1DB1-7549-B3E4-541257AA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602" y="954158"/>
            <a:ext cx="4218376" cy="65314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Conclusions-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C0631F-3068-63F1-6023-91141BED59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C5A49E-8429-0600-5536-8D601FDEB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382137-F1FA-BBE2-A3BE-A0D5142B5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28" y="555355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6B22593-37A6-4DEB-1E2A-8973704245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62857E7-FEB7-6009-AFCF-75A58349BC0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72886" y="1846356"/>
            <a:ext cx="76962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Python was created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Guido van Rossum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in the late 1980s and officially released in 1991.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✅ It was developed with the aim of making programming simple, readable, and efficient.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✅ Being open-source from the beginning helped Python grow through global community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✅ Over time, Python has evolved into one of the most popular programming languages worldwide.</a:t>
            </a:r>
          </a:p>
        </p:txBody>
      </p:sp>
    </p:spTree>
    <p:extLst>
      <p:ext uri="{BB962C8B-B14F-4D97-AF65-F5344CB8AC3E}">
        <p14:creationId xmlns:p14="http://schemas.microsoft.com/office/powerpoint/2010/main" val="2648432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D1785-51FB-563A-176D-2D3CCF5D1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AE3B-A5B6-5D29-FC1E-A3212095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057275"/>
            <a:ext cx="10052677" cy="1098096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Attainment of LOs in alignment to the learning activities:</a:t>
            </a:r>
            <a:r>
              <a:rPr lang="en-IN" sz="320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endParaRPr lang="en-US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0CB2F-3E47-E56E-8A44-B6ECD91984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148865" y="6099786"/>
            <a:ext cx="920078" cy="641784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18</a:t>
            </a:fld>
            <a:endParaRPr lang="en-US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CFD5C-933A-9BE6-BF38-3A262FB4F7A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914400" y="6456933"/>
            <a:ext cx="2652328" cy="410780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908E1E-46E0-AC25-F72D-C7092D16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11" y="41078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B7E5828-B4FB-5F17-FEFA-6A3E119F6F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7076" y="183724"/>
            <a:ext cx="874732" cy="874732"/>
          </a:xfrm>
          <a:prstGeom prst="rect">
            <a:avLst/>
          </a:prstGeom>
        </p:spPr>
      </p:pic>
      <p:graphicFrame>
        <p:nvGraphicFramePr>
          <p:cNvPr id="7" name="Title 1">
            <a:extLst>
              <a:ext uri="{FF2B5EF4-FFF2-40B4-BE49-F238E27FC236}">
                <a16:creationId xmlns:a16="http://schemas.microsoft.com/office/drawing/2014/main" id="{D203F598-3E73-0357-ECFE-834DF1DC6A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3050672"/>
              </p:ext>
            </p:extLst>
          </p:nvPr>
        </p:nvGraphicFramePr>
        <p:xfrm>
          <a:off x="702129" y="2275114"/>
          <a:ext cx="10854713" cy="3690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915970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7CA4-3487-8BCD-59D7-5F61B5DE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4934-F18A-9C59-D70B-ABB4D350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772399"/>
            <a:ext cx="7796464" cy="8349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post session activities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F9988D-4ECC-7843-D665-EDA5EDFADE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A54D89-2F52-D528-3B08-70304B4D16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95CA9-4ACF-27BA-CB46-DEE4C487C389}"/>
              </a:ext>
            </a:extLst>
          </p:cNvPr>
          <p:cNvSpPr txBox="1"/>
          <p:nvPr/>
        </p:nvSpPr>
        <p:spPr>
          <a:xfrm>
            <a:off x="675861" y="1942390"/>
            <a:ext cx="6724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* Attempt the Post-session activity on LMS, before next session.</a:t>
            </a: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A21D0-3EC3-C8C9-71C6-4A4B9BD1C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A7D21E7-AB1D-AE04-3F5D-AF37640F66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BC581E-11A0-1F91-3F0E-05CE05245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42" y="2646813"/>
            <a:ext cx="7696201" cy="283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40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2F2C-06CA-7374-50D0-99BED7E4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8D3AD-5DE7-9B21-97D7-EFF43A57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001" y="1374440"/>
            <a:ext cx="7796464" cy="3271394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Next session:</a:t>
            </a: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IN" dirty="0">
                <a:solidFill>
                  <a:srgbClr val="FF0000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  <a:t>Syntax of Python – Writing and Running Python Programs</a:t>
            </a:r>
            <a:b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br>
              <a:rPr lang="en-US" dirty="0">
                <a:solidFill>
                  <a:srgbClr val="202C8F"/>
                </a:solidFill>
                <a:highlight>
                  <a:srgbClr val="FFFFFF"/>
                </a:highlight>
                <a:latin typeface="Comic Sans MS" panose="030F0702030302020204" pitchFamily="66" charset="0"/>
              </a:rPr>
            </a:br>
            <a:endParaRPr lang="en-US" dirty="0">
              <a:solidFill>
                <a:srgbClr val="202C8F"/>
              </a:solidFill>
              <a:highlight>
                <a:srgbClr val="FFFFFF"/>
              </a:highlight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AB768-87E0-2412-9630-821604584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F013B-1324-37A0-1E48-A7C2F7B227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56936" y="6438452"/>
            <a:ext cx="2596406" cy="419548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7464C4-8AF7-A650-3DB8-1CDAD8AD8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17" y="150960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E1D0DD1-8F39-44E3-1A66-F0B2CE3D99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0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Thank You </a:t>
            </a:r>
          </a:p>
        </p:txBody>
      </p:sp>
      <p:pic>
        <p:nvPicPr>
          <p:cNvPr id="1026" name="Picture 2" descr="Wave Panda GIF - Wave Panda Love GIFs">
            <a:extLst>
              <a:ext uri="{FF2B5EF4-FFF2-40B4-BE49-F238E27FC236}">
                <a16:creationId xmlns:a16="http://schemas.microsoft.com/office/drawing/2014/main" id="{09897E71-AB9F-49A1-2659-F4752168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914" y="1834243"/>
            <a:ext cx="3178629" cy="372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A9036-3DAB-BBCA-EEA2-6C99F5E5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2839" y="5929400"/>
            <a:ext cx="443001" cy="539553"/>
          </a:xfrm>
        </p:spPr>
        <p:txBody>
          <a:bodyPr/>
          <a:lstStyle/>
          <a:p>
            <a:fld id="{48F63A3B-78C7-47BE-AE5E-E10140E04643}" type="slidenum">
              <a:rPr lang="en-US" sz="1600" smtClean="0"/>
              <a:pPr/>
              <a:t>21</a:t>
            </a:fld>
            <a:endParaRPr lang="en-US" sz="16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997B1-8B40-6DFF-7DE4-77D77806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1" y="6356350"/>
            <a:ext cx="4617435" cy="365125"/>
          </a:xfrm>
        </p:spPr>
        <p:txBody>
          <a:bodyPr/>
          <a:lstStyle/>
          <a:p>
            <a:r>
              <a:rPr lang="en-IN">
                <a:solidFill>
                  <a:schemeClr val="accent1"/>
                </a:solidFill>
                <a:latin typeface="Comic Sans MS" panose="030F0702030302020204" pitchFamily="66" charset="0"/>
              </a:rPr>
              <a:t>Prepared By -- Pooja Vajpayee</a:t>
            </a:r>
            <a:endParaRPr lang="en-IN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133D5-6B0B-5FD9-FDE2-A96BE2CD5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966" y="208906"/>
            <a:ext cx="2215421" cy="612478"/>
          </a:xfrm>
          <a:prstGeom prst="rect">
            <a:avLst/>
          </a:prstGeom>
        </p:spPr>
      </p:pic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FC0424E-4C62-D264-97AF-E22FD26D4BB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0158" y="272572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9B3C03-8AE6-E57C-3292-C8272EA652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389" y="2805780"/>
            <a:ext cx="2792210" cy="279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228</TotalTime>
  <Words>809</Words>
  <Application>Microsoft Office PowerPoint</Application>
  <PresentationFormat>Widescreen</PresentationFormat>
  <Paragraphs>144</Paragraphs>
  <Slides>21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Bahnschrift SemiCondensed</vt:lpstr>
      <vt:lpstr>Calibri</vt:lpstr>
      <vt:lpstr>Calibri Light</vt:lpstr>
      <vt:lpstr>Cambria</vt:lpstr>
      <vt:lpstr>Comic Sans MS</vt:lpstr>
      <vt:lpstr>Georgia</vt:lpstr>
      <vt:lpstr>Roboto</vt:lpstr>
      <vt:lpstr>Retrospect</vt:lpstr>
      <vt:lpstr>Introduction to python-History, Features  </vt:lpstr>
      <vt:lpstr>Recap</vt:lpstr>
      <vt:lpstr>PowerPoint Presentation</vt:lpstr>
      <vt:lpstr> At the end of this session students will be able to </vt:lpstr>
      <vt:lpstr>Session Outline</vt:lpstr>
      <vt:lpstr>CONTENT                              </vt:lpstr>
      <vt:lpstr>                         What is Python</vt:lpstr>
      <vt:lpstr>                       History of Python                    </vt:lpstr>
      <vt:lpstr>                      Features     </vt:lpstr>
      <vt:lpstr>                              Scope of Python</vt:lpstr>
      <vt:lpstr>         Why do people use python</vt:lpstr>
      <vt:lpstr>PowerPoint Presentation</vt:lpstr>
      <vt:lpstr>                          Applications</vt:lpstr>
      <vt:lpstr>What can I do with Python….?</vt:lpstr>
      <vt:lpstr>Learning Activity 1 </vt:lpstr>
      <vt:lpstr> Reflection- Learning Activity 1</vt:lpstr>
      <vt:lpstr>Conclusions-</vt:lpstr>
      <vt:lpstr>  Attainment of LOs in alignment to the learning activities: </vt:lpstr>
      <vt:lpstr>post session activities</vt:lpstr>
      <vt:lpstr>Next session:  Syntax of Python – Writing and Running Python Programs 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Introduction               To           Python</dc:title>
  <dc:creator>Priyanshu Panchal</dc:creator>
  <cp:lastModifiedBy>Pooja Vajpayee</cp:lastModifiedBy>
  <cp:revision>21</cp:revision>
  <dcterms:created xsi:type="dcterms:W3CDTF">2022-07-07T21:34:19Z</dcterms:created>
  <dcterms:modified xsi:type="dcterms:W3CDTF">2026-08-21T06:09:09Z</dcterms:modified>
</cp:coreProperties>
</file>