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3" r:id="rId4"/>
  </p:sldMasterIdLst>
  <p:notesMasterIdLst>
    <p:notesMasterId r:id="rId22"/>
  </p:notesMasterIdLst>
  <p:handoutMasterIdLst>
    <p:handoutMasterId r:id="rId23"/>
  </p:handoutMasterIdLst>
  <p:sldIdLst>
    <p:sldId id="312" r:id="rId5"/>
    <p:sldId id="282" r:id="rId6"/>
    <p:sldId id="332" r:id="rId7"/>
    <p:sldId id="334" r:id="rId8"/>
    <p:sldId id="281" r:id="rId9"/>
    <p:sldId id="342" r:id="rId10"/>
    <p:sldId id="343" r:id="rId11"/>
    <p:sldId id="314" r:id="rId12"/>
    <p:sldId id="345" r:id="rId13"/>
    <p:sldId id="327" r:id="rId14"/>
    <p:sldId id="335" r:id="rId15"/>
    <p:sldId id="344" r:id="rId16"/>
    <p:sldId id="341" r:id="rId17"/>
    <p:sldId id="333" r:id="rId18"/>
    <p:sldId id="338" r:id="rId19"/>
    <p:sldId id="339" r:id="rId20"/>
    <p:sldId id="297" r:id="rId2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108F6-6357-421D-BA69-E6FDBFF10736}" v="2" dt="2026-08-21T06:02:34.501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 snapToObjects="1">
      <p:cViewPr varScale="1">
        <p:scale>
          <a:sx n="84" d="100"/>
          <a:sy n="84" d="100"/>
        </p:scale>
        <p:origin x="351" y="45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189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undo custSel addSld delSld modSld sldOrd">
      <pc:chgData name="Pooja Vajpayee" userId="5b87b0fd92f11293" providerId="LiveId" clId="{0501A310-59F1-4F20-8912-C0936825A972}" dt="2026-08-21T06:02:40.786" v="477" actId="108"/>
      <pc:docMkLst>
        <pc:docMk/>
      </pc:docMkLst>
      <pc:sldChg chg="modSp mod">
        <pc:chgData name="Pooja Vajpayee" userId="5b87b0fd92f11293" providerId="LiveId" clId="{0501A310-59F1-4F20-8912-C0936825A972}" dt="2026-08-21T06:02:40.786" v="477" actId="108"/>
        <pc:sldMkLst>
          <pc:docMk/>
          <pc:sldMk cId="2202437675" sldId="312"/>
        </pc:sldMkLst>
        <pc:spChg chg="mod">
          <ac:chgData name="Pooja Vajpayee" userId="5b87b0fd92f11293" providerId="LiveId" clId="{0501A310-59F1-4F20-8912-C0936825A972}" dt="2026-08-21T06:02:40.786" v="477" actId="108"/>
          <ac:spMkLst>
            <pc:docMk/>
            <pc:sldMk cId="2202437675" sldId="312"/>
            <ac:spMk id="5" creationId="{15D13C77-5584-2E97-6EAE-6617012A896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US" sz="2200" kern="1200" cap="none" dirty="0">
              <a:solidFill>
                <a:schemeClr val="bg1"/>
              </a:solidFill>
              <a:effectLst/>
              <a:latin typeface="Comic Sans MS" panose="030F0702030302020204" pitchFamily="66" charset="0"/>
              <a:ea typeface="+mn-ea"/>
              <a:cs typeface="+mn-cs"/>
            </a:rPr>
            <a:t>what keywords are in Python and why they cannot be used as variable names.</a:t>
          </a:r>
          <a:endParaRPr lang="en-IN" sz="2200" kern="1200" cap="none" dirty="0">
            <a:solidFill>
              <a:schemeClr val="bg1"/>
            </a:solidFill>
            <a:effectLst/>
            <a:latin typeface="Comic Sans MS" panose="030F0702030302020204" pitchFamily="66" charset="0"/>
            <a:ea typeface="+mn-ea"/>
            <a:cs typeface="+mn-cs"/>
          </a:endParaRP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400" kern="1200" cap="none" dirty="0">
              <a:solidFill>
                <a:schemeClr val="bg1"/>
              </a:solidFill>
              <a:effectLst/>
              <a:latin typeface="Comic Sans MS" panose="030F0702030302020204" pitchFamily="66" charset="0"/>
              <a:ea typeface="+mn-ea"/>
              <a:cs typeface="+mn-cs"/>
            </a:rPr>
            <a:t>Understand how to use variables and name them correctly in Python.</a:t>
          </a:r>
          <a:endParaRPr lang="en-IN" sz="2400" kern="1200" cap="none" dirty="0">
            <a:solidFill>
              <a:schemeClr val="bg1"/>
            </a:solidFill>
            <a:effectLst/>
            <a:latin typeface="Comic Sans MS" panose="030F0702030302020204" pitchFamily="66" charset="0"/>
            <a:ea typeface="+mn-ea"/>
            <a:cs typeface="+mn-cs"/>
          </a:endParaRP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</a:t>
          </a:r>
          <a:r>
            <a:rPr lang="en-US" dirty="0"/>
            <a:t>Introduction to Python Language</a:t>
          </a:r>
          <a:r>
            <a:rPr lang="en-IN" dirty="0">
              <a:solidFill>
                <a:schemeClr val="tx1"/>
              </a:solidFill>
            </a:rPr>
            <a:t>.</a:t>
          </a:r>
          <a:endParaRPr lang="en-US" dirty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 . Opening and Learning Outcomes. </a:t>
          </a:r>
          <a:endParaRPr lang="en-US" dirty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/>
            <a:t>3. </a:t>
          </a:r>
          <a:r>
            <a:rPr lang="en-US" dirty="0"/>
            <a:t> Data Types, operators.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/>
            <a:t>4.  A1 ( MCQ):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/>
            <a:t>5.</a:t>
          </a:r>
          <a:r>
            <a:rPr lang="en-US" dirty="0"/>
            <a:t> Boolean values</a:t>
          </a:r>
          <a:r>
            <a:rPr lang="en-IN" dirty="0"/>
            <a:t>.</a:t>
          </a:r>
          <a:endParaRPr lang="en-US" dirty="0"/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r>
            <a:rPr lang="en-IN" dirty="0"/>
            <a:t>6 . A2 (MCQ):</a:t>
          </a:r>
          <a:endParaRPr lang="en-US" dirty="0"/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99FC8459-9AC4-4D1E-9BDA-DFE1D1DCA09B}">
      <dgm:prSet/>
      <dgm:spPr/>
      <dgm:t>
        <a:bodyPr/>
        <a:lstStyle/>
        <a:p>
          <a:r>
            <a:rPr lang="en-IN"/>
            <a:t>7. Conclusion </a:t>
          </a:r>
          <a:r>
            <a:rPr lang="en-IN" dirty="0"/>
            <a:t>&amp; Closure</a:t>
          </a:r>
        </a:p>
      </dgm:t>
    </dgm:pt>
    <dgm:pt modelId="{77280AB4-38B6-4095-89FE-042382F10ACA}" type="parTrans" cxnId="{5CD507EF-195E-4EAE-B039-D7C99BE1A3F1}">
      <dgm:prSet/>
      <dgm:spPr/>
      <dgm:t>
        <a:bodyPr/>
        <a:lstStyle/>
        <a:p>
          <a:endParaRPr lang="en-IN"/>
        </a:p>
      </dgm:t>
    </dgm:pt>
    <dgm:pt modelId="{68E857C9-4009-415C-853F-EBFD4C6F4A7B}" type="sibTrans" cxnId="{5CD507EF-195E-4EAE-B039-D7C99BE1A3F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7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7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7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7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7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7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7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7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7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7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7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7"/>
      <dgm:spPr/>
    </dgm:pt>
    <dgm:pt modelId="{41D82D7D-82CC-403F-8FAA-7EF8B4434DBF}" type="pres">
      <dgm:prSet presAssocID="{B3A5C720-F6BA-415B-BACC-D6E1E00A3E9C}" presName="vert1" presStyleCnt="0"/>
      <dgm:spPr/>
    </dgm:pt>
    <dgm:pt modelId="{C00E17CF-93B3-44F2-9630-42C8C4D9A573}" type="pres">
      <dgm:prSet presAssocID="{99FC8459-9AC4-4D1E-9BDA-DFE1D1DCA09B}" presName="thickLine" presStyleLbl="alignNode1" presStyleIdx="6" presStyleCnt="7"/>
      <dgm:spPr/>
    </dgm:pt>
    <dgm:pt modelId="{FEF2EC88-6F8F-4301-AF91-82A9E13BC377}" type="pres">
      <dgm:prSet presAssocID="{99FC8459-9AC4-4D1E-9BDA-DFE1D1DCA09B}" presName="horz1" presStyleCnt="0"/>
      <dgm:spPr/>
    </dgm:pt>
    <dgm:pt modelId="{797037F6-2CA6-433A-BB99-F6CF6517BE03}" type="pres">
      <dgm:prSet presAssocID="{99FC8459-9AC4-4D1E-9BDA-DFE1D1DCA09B}" presName="tx1" presStyleLbl="revTx" presStyleIdx="6" presStyleCnt="7"/>
      <dgm:spPr/>
    </dgm:pt>
    <dgm:pt modelId="{F4E6ED3E-11A2-4D61-988A-2C3FC1B42073}" type="pres">
      <dgm:prSet presAssocID="{99FC8459-9AC4-4D1E-9BDA-DFE1D1DCA09B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F50F0544-F653-402B-9303-8E578B71C73E}" type="presOf" srcId="{99FC8459-9AC4-4D1E-9BDA-DFE1D1DCA09B}" destId="{797037F6-2CA6-433A-BB99-F6CF6517BE03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5CD507EF-195E-4EAE-B039-D7C99BE1A3F1}" srcId="{B64DB52A-CA4F-4852-B41E-6A1F43CC58F9}" destId="{99FC8459-9AC4-4D1E-9BDA-DFE1D1DCA09B}" srcOrd="6" destOrd="0" parTransId="{77280AB4-38B6-4095-89FE-042382F10ACA}" sibTransId="{68E857C9-4009-415C-853F-EBFD4C6F4A7B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  <dgm:cxn modelId="{3BCDC9A2-18EF-4657-8CC7-758895941243}" type="presParOf" srcId="{573103A9-89AC-4873-8CB5-0F4B7370B2E1}" destId="{C00E17CF-93B3-44F2-9630-42C8C4D9A573}" srcOrd="12" destOrd="0" presId="urn:microsoft.com/office/officeart/2008/layout/LinedList"/>
    <dgm:cxn modelId="{7B63E39B-EB89-4D7E-B6EB-7A2411849EDB}" type="presParOf" srcId="{573103A9-89AC-4873-8CB5-0F4B7370B2E1}" destId="{FEF2EC88-6F8F-4301-AF91-82A9E13BC377}" srcOrd="13" destOrd="0" presId="urn:microsoft.com/office/officeart/2008/layout/LinedList"/>
    <dgm:cxn modelId="{C43CD435-9D61-42E3-B13F-A9BB5E271817}" type="presParOf" srcId="{FEF2EC88-6F8F-4301-AF91-82A9E13BC377}" destId="{797037F6-2CA6-433A-BB99-F6CF6517BE03}" srcOrd="0" destOrd="0" presId="urn:microsoft.com/office/officeart/2008/layout/LinedList"/>
    <dgm:cxn modelId="{15332F65-C6CF-4E3C-9160-CE7AA1938B4B}" type="presParOf" srcId="{FEF2EC88-6F8F-4301-AF91-82A9E13BC377}" destId="{F4E6ED3E-11A2-4D61-988A-2C3FC1B42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endParaRPr lang="en-IN" sz="2800" dirty="0">
            <a:solidFill>
              <a:srgbClr val="FFFF00"/>
            </a:solidFill>
          </a:endParaRPr>
        </a:p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US" sz="2800" b="1" dirty="0">
              <a:latin typeface="Comic Sans MS" panose="030F0702030302020204" pitchFamily="66" charset="0"/>
            </a:rPr>
            <a:t>what keywords are in Python and why they cannot be used as variable names.</a:t>
          </a:r>
          <a:endParaRPr lang="en-IN" sz="2800" b="1" dirty="0">
            <a:latin typeface="Comic Sans MS" panose="030F0702030302020204" pitchFamily="66" charset="0"/>
          </a:endParaRPr>
        </a:p>
        <a:p>
          <a:endParaRPr lang="en-IN" sz="32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US" sz="2800" cap="none" dirty="0">
              <a:solidFill>
                <a:schemeClr val="bg1"/>
              </a:solidFill>
              <a:effectLst/>
              <a:latin typeface="Comic Sans MS" panose="030F0702030302020204" pitchFamily="66" charset="0"/>
              <a:ea typeface="+mn-ea"/>
              <a:cs typeface="+mn-cs"/>
            </a:rPr>
            <a:t>Understand how to use variables and name them correctly in Python.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US" sz="2200" kern="1200" cap="none" dirty="0">
              <a:solidFill>
                <a:schemeClr val="bg1"/>
              </a:solidFill>
              <a:effectLst/>
              <a:latin typeface="Comic Sans MS" panose="030F0702030302020204" pitchFamily="66" charset="0"/>
              <a:ea typeface="+mn-ea"/>
              <a:cs typeface="+mn-cs"/>
            </a:rPr>
            <a:t>what keywords are in Python and why they cannot be used as variable names.</a:t>
          </a:r>
          <a:endParaRPr lang="en-IN" sz="2200" kern="1200" cap="none" dirty="0">
            <a:solidFill>
              <a:schemeClr val="bg1"/>
            </a:solidFill>
            <a:effectLst/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400" kern="1200" cap="none" dirty="0">
              <a:solidFill>
                <a:schemeClr val="bg1"/>
              </a:solidFill>
              <a:effectLst/>
              <a:latin typeface="Comic Sans MS" panose="030F0702030302020204" pitchFamily="66" charset="0"/>
              <a:ea typeface="+mn-ea"/>
              <a:cs typeface="+mn-cs"/>
            </a:rPr>
            <a:t>Understand how to use variables and name them correctly in Python.</a:t>
          </a:r>
          <a:endParaRPr lang="en-IN" sz="2400" kern="1200" cap="none" dirty="0">
            <a:solidFill>
              <a:schemeClr val="bg1"/>
            </a:solidFill>
            <a:effectLst/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1. </a:t>
          </a:r>
          <a:r>
            <a:rPr lang="en-US" sz="3600" kern="1200" dirty="0"/>
            <a:t>Introduction to Python Language</a:t>
          </a:r>
          <a:r>
            <a:rPr lang="en-IN" sz="3600" kern="1200" dirty="0">
              <a:solidFill>
                <a:schemeClr val="tx1"/>
              </a:solidFill>
            </a:rPr>
            <a:t>.</a:t>
          </a:r>
          <a:endParaRPr lang="en-US" sz="3600" kern="1200" dirty="0"/>
        </a:p>
      </dsp:txBody>
      <dsp:txXfrm>
        <a:off x="0" y="675"/>
        <a:ext cx="6900512" cy="790684"/>
      </dsp:txXfrm>
    </dsp:sp>
    <dsp:sp modelId="{F83A5B86-9D43-4C81-A6D4-87875817B68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2 . Opening and Learning Outcomes. </a:t>
          </a:r>
          <a:endParaRPr lang="en-US" sz="3600" kern="1200" dirty="0"/>
        </a:p>
      </dsp:txBody>
      <dsp:txXfrm>
        <a:off x="0" y="791359"/>
        <a:ext cx="6900512" cy="790684"/>
      </dsp:txXfrm>
    </dsp:sp>
    <dsp:sp modelId="{7EE56E18-6978-43E9-9D4D-E31AA5BEE44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3. </a:t>
          </a:r>
          <a:r>
            <a:rPr lang="en-US" sz="3600" kern="1200" dirty="0"/>
            <a:t> Data Types, operators.</a:t>
          </a:r>
        </a:p>
      </dsp:txBody>
      <dsp:txXfrm>
        <a:off x="0" y="1582044"/>
        <a:ext cx="6900512" cy="790684"/>
      </dsp:txXfrm>
    </dsp:sp>
    <dsp:sp modelId="{B514687E-679F-4404-A929-C733AA004539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4.  A1 ( MCQ):</a:t>
          </a:r>
          <a:endParaRPr lang="en-US" sz="3600" kern="1200" dirty="0"/>
        </a:p>
      </dsp:txBody>
      <dsp:txXfrm>
        <a:off x="0" y="2372728"/>
        <a:ext cx="6900512" cy="790684"/>
      </dsp:txXfrm>
    </dsp:sp>
    <dsp:sp modelId="{0B062B2C-FD23-461E-89A1-3ECDF7A567C2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5.</a:t>
          </a:r>
          <a:r>
            <a:rPr lang="en-US" sz="3600" kern="1200" dirty="0"/>
            <a:t> Boolean values</a:t>
          </a:r>
          <a:r>
            <a:rPr lang="en-IN" sz="3600" kern="1200" dirty="0"/>
            <a:t>.</a:t>
          </a:r>
          <a:endParaRPr lang="en-US" sz="3600" kern="1200" dirty="0"/>
        </a:p>
      </dsp:txBody>
      <dsp:txXfrm>
        <a:off x="0" y="3163412"/>
        <a:ext cx="6900512" cy="790684"/>
      </dsp:txXfrm>
    </dsp:sp>
    <dsp:sp modelId="{2B37DFBD-1045-417A-89DD-348147EAB4F5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6 . A2 (MCQ):</a:t>
          </a:r>
          <a:endParaRPr lang="en-US" sz="3600" kern="1200" dirty="0"/>
        </a:p>
      </dsp:txBody>
      <dsp:txXfrm>
        <a:off x="0" y="3954096"/>
        <a:ext cx="6900512" cy="790684"/>
      </dsp:txXfrm>
    </dsp:sp>
    <dsp:sp modelId="{C00E17CF-93B3-44F2-9630-42C8C4D9A573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037F6-2CA6-433A-BB99-F6CF6517BE0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7. Conclusion </a:t>
          </a:r>
          <a:r>
            <a:rPr lang="en-IN" sz="3600" kern="1200" dirty="0"/>
            <a:t>&amp; Closure</a:t>
          </a:r>
        </a:p>
      </dsp:txBody>
      <dsp:txXfrm>
        <a:off x="0" y="4744781"/>
        <a:ext cx="6900512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 dirty="0">
            <a:solidFill>
              <a:srgbClr val="FFFF00"/>
            </a:solidFill>
          </a:endParaRP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US" sz="2800" b="1" kern="1200" dirty="0">
              <a:latin typeface="Comic Sans MS" panose="030F0702030302020204" pitchFamily="66" charset="0"/>
            </a:rPr>
            <a:t>what keywords are in Python and why they cannot be used as variable names.</a:t>
          </a:r>
          <a:endParaRPr lang="en-IN" sz="2800" b="1" kern="1200" dirty="0">
            <a:latin typeface="Comic Sans MS" panose="030F0702030302020204" pitchFamily="66" charset="0"/>
          </a:endParaRP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800" kern="1200" cap="none" dirty="0">
              <a:solidFill>
                <a:schemeClr val="bg1"/>
              </a:solidFill>
              <a:effectLst/>
              <a:latin typeface="Comic Sans MS" panose="030F0702030302020204" pitchFamily="66" charset="0"/>
              <a:ea typeface="+mn-ea"/>
              <a:cs typeface="+mn-cs"/>
            </a:rPr>
            <a:t>Understand how to use variables and name them correctly in Python.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POOJA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1119-95D6-CC62-728E-399DF7CE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840D8-BC72-CBBB-52EF-FC457220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B900-C185-5DBB-F23C-6B17E555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02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F23B-17DC-75CE-EA39-6684EFF4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3F48F-1831-6F8A-F386-5C1B58EFA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709EB-8558-CEF4-9454-8A027C93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4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E400-D07C-11FB-6F40-73CE5D16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AC5FD-C861-4C77-FB2B-B99BFCDFE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02393-4E23-72A4-71C2-B549CDC3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81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4B59-F5E6-97CC-BCBC-FB757114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2E880-6377-D485-B784-EF5D932A2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D4161-A583-56C3-E407-3EE2479A4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60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D972-DFE0-A8FA-ED4A-B369FE1A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EE476-4168-2765-BC33-02A04B773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E64D8-2DCB-2A40-953D-F2B259F23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549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7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DD63-B4C1-82DC-AD16-B539C2A3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F96B-B942-D621-F655-E13C8A58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B3B75-F84B-4DEB-A6F3-C1502ECF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3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F7F50-5C28-D0F8-AEE2-07C0AAC9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9CE4E-E403-BE06-EE23-FBBF4D6BC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92D6D-35DF-1DBF-C3EC-07835534E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898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1FF8-6F51-F8C6-6002-E9FA5325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EE7D4-484D-14F8-1567-B38C13EEB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9FA4E-2E0F-957C-0EA3-F9D6AB02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16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CFA3-EA4B-FE43-6223-44F9056E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CB8C8-4786-3E5A-F7B8-084F8163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5F85-A580-2DAD-9CCC-700BD11E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33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D06F-758B-6F25-0458-2C2A042A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5CD93-9057-48F5-43AA-5D905540E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06FF-AA70-E0D2-F910-9A075160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04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9608-9C37-B623-F558-60E91C3F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51F8-E056-174D-3B9A-AD1B7FA6E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DB29-C975-3CB5-0587-44D0D58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6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993AC3B-8BB0-72DF-2954-3A9413BF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E9C7F-36D7-721E-1936-E2EC20C4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7ACA0A-AFD7-520C-AF50-DB7043D9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6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1933C37-F5DA-BFCD-2AB6-1B9F3350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D23D35-2380-76AC-63A9-D056394B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03DF53-9AA4-A1DC-AB9D-387F5E56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0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ABB2E-CFA1-AEE8-0780-A1662A73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2F77-BB19-0351-CF6A-DEBD85F7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2AF23-B428-A508-DB8C-EE44FC1D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6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73836C0-62B0-4CAF-CE45-02D9AC0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12D9F3-C6CA-9C2B-826E-4B8C6936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4CBF44-8787-84F8-8CFC-FB59AD99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3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7FFC1F-0452-584B-D8E1-AE72A3F1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F92AC41-12B3-A91B-CB7D-587D8FC8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6A1BAAA-44FE-CB4B-766E-3E352118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A1BBFB-842B-3470-D2B6-C78A0B80E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23220-CFEA-6FA4-F387-25257EC48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24893B7-F89C-4640-D263-5F66CD92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9D88B0C-ADF0-4AE2-4FD8-017C14C2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F8AE3E-832F-525B-0D3E-7EF70660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9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61A281-BCA5-E72C-77B7-147322BDF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D3022A9-33D0-3073-D816-1C34FA1D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62296-CD4E-8FD7-C9BD-6DE7A356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E6B98BC-A90C-5472-3F9B-D66F1594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C416B4-4E88-5D5D-2A9F-43DA44BE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65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0855A47-CFED-6003-31EC-A7B1D572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031857-C2CD-F03E-3762-548FC7A6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5F9737E-0F20-98C1-CF93-73CA9F4D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952C4AB-6436-CD4F-31D0-D7F0C7AF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33AF243-EEE8-15D4-B9D0-D398DB57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6BA464-DD16-61AA-3061-D4AE1F59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1A456B-B851-1A11-9A3C-6663BA7E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5DD979-FA66-79A4-0616-82FE5828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3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78D6B68-932B-8B32-18AE-9529C3D8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E2B4FCD-4175-0C27-251B-291F1AE9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534B1EC-7C10-627B-5DE4-84B35FCE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5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F69423-E6B9-F487-F0DB-08BCE911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DBB2133-0311-13A2-799F-8A7230C3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084C2E-A0B4-F370-C092-55721291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4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97C61C0-BCEF-7249-C601-258C38988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D63DE27-3977-F745-A955-07844DE915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4599C78-0CC5-BD61-6E10-0C9E34AADD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86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9C23712-907B-F3AD-519D-6CDBB0F2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DB105C-701A-141A-E040-765627D8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407705-B8E5-5DB2-ACB5-50F92E6C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30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03F94-6E23-3649-CEAE-F3F5C6D5EA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9CC95-DA94-A1B3-A894-900A512C4F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F4001-BD5F-946B-1D85-155B712C9A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803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C88D2-6F7B-7940-DC18-CA0DD3F1B3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E56C7-0731-094E-2657-2F69BDDA065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AC601-3BA1-665F-E37B-20CEC092CA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84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529C0-43AA-320F-6524-C1BEE0F2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24F3F-0C20-A5D0-06DB-3AA7BF92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E1901-B7D1-22A1-CA84-D9ED3AAF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55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D4AE1-1F43-7B0A-F014-83B18F72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BD6A6-6B13-582E-7546-651FD4B0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4719F-305F-264B-F4C4-38C066EE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49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5C6EA-CC72-7503-F2FD-B62E9A457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9085A21-D7DC-860A-0531-F7DF76979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13" y="149187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EBC89-6430-72ED-6543-B9C719ED7D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80DB3-68C1-8C9D-618C-10479642A1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337507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74E5-FC49-8817-6138-526DAFDE5C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8259" y="5969000"/>
            <a:ext cx="457200" cy="2794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12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DAF93-1CBA-7B88-4CBA-FD063FCA8A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9152D-2767-A6B6-0ABE-E9F9BCA5A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339788" cy="410780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C530D-C5D9-3A8E-BFEE-D5C03A9549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39773" y="6336254"/>
            <a:ext cx="484095" cy="398032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3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96645" y="6164132"/>
            <a:ext cx="935783" cy="419548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90A00-86AF-E915-BEEE-2133D086934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719EE-0FDC-CA1B-D322-99BA4F6373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412145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076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88683" y="6123709"/>
            <a:ext cx="798022" cy="653935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5EAB7-6276-36DC-3569-037D8F05A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D52D5-44CE-44E1-A11B-A5ACA30ADF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415988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76B52-A0C4-2157-90BB-918EC9BC9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14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257878" y="6104965"/>
            <a:ext cx="780795" cy="50560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CA864-09E2-0E82-C92B-2CA90A12F0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6EF-CFE6-B577-3274-CF41EA6D92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316339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669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CDE17-F158-2784-2CCE-B8AC65C9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2312893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2BBF-A77B-3676-9044-25220DBC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1417" y="5981253"/>
            <a:ext cx="977322" cy="740222"/>
          </a:xfrm>
        </p:spPr>
        <p:txBody>
          <a:bodyPr/>
          <a:lstStyle>
            <a:lvl1pPr>
              <a:defRPr sz="130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6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0964" y="-134739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271D362-1D04-1937-57E2-85DC10EC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80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23" r:id="rId24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jpe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7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jpeg"/><Relationship Id="rId9" Type="http://schemas.microsoft.com/office/2007/relationships/diagramDrawing" Target="../diagrams/drawin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24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Times New Roman" panose="02020603050405020304" pitchFamily="18" charset="0"/>
              </a:rPr>
              <a:t> Keywords and Identifiers</a:t>
            </a:r>
            <a:b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br>
              <a:rPr lang="en-US" sz="2800" dirty="0"/>
            </a:br>
            <a:endParaRPr lang="en-US" sz="4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85C8FCE-D8B6-E820-DD1E-49ADD8DEA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732" y="125638"/>
            <a:ext cx="1190469" cy="119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D13C77-5584-2E97-6EAE-6617012A8968}"/>
              </a:ext>
            </a:extLst>
          </p:cNvPr>
          <p:cNvSpPr txBox="1"/>
          <p:nvPr/>
        </p:nvSpPr>
        <p:spPr>
          <a:xfrm>
            <a:off x="7519662" y="4738000"/>
            <a:ext cx="47253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 Python Programming</a:t>
            </a:r>
            <a:b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- E1UA311C</a:t>
            </a:r>
            <a:b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 </a:t>
            </a:r>
            <a: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  <a:t>Pooja Vajpayee</a:t>
            </a:r>
            <a:b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 </a:t>
            </a:r>
            <a: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  <a:t>50 Mins</a:t>
            </a:r>
            <a:b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endParaRPr lang="en-IN" sz="1400" dirty="0">
              <a:solidFill>
                <a:srgbClr val="7030A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10" y="193104"/>
            <a:ext cx="8127369" cy="5196744"/>
          </a:xfrm>
        </p:spPr>
        <p:txBody>
          <a:bodyPr/>
          <a:lstStyle/>
          <a:p>
            <a: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  <a:t> </a:t>
            </a: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Review of the key concepts of last session   </a:t>
            </a: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--- </a:t>
            </a:r>
            <a:r>
              <a:rPr lang="en-US" sz="3200" dirty="0">
                <a:solidFill>
                  <a:schemeClr val="tx1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Syntax of python</a:t>
            </a: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endParaRPr lang="en-US" sz="3200" dirty="0">
              <a:solidFill>
                <a:srgbClr val="FF0000"/>
              </a:solidFill>
              <a:highlight>
                <a:srgbClr val="FFFFFF"/>
              </a:highlight>
              <a:latin typeface="Comic Sans MS" panose="030F0702030302020204" pitchFamily="66" charset="0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2782-E3D5-8846-39AF-1863B1CFD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6395856"/>
            <a:ext cx="1642353" cy="41954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A5C4B-2FEE-2678-03E2-9B817E1AA6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AutoShape 2" descr="Machine learning outlet real life applications">
            <a:extLst>
              <a:ext uri="{FF2B5EF4-FFF2-40B4-BE49-F238E27FC236}">
                <a16:creationId xmlns:a16="http://schemas.microsoft.com/office/drawing/2014/main" id="{0DFC41C2-8CEC-4727-4DE3-E1ABAEF3A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CB5F4-42D1-F03B-8BEA-48CEA111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05CAC3C-2318-EC8A-2E48-8DCFD24267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865" y="556740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719E-5093-51ED-6170-B3AB02ED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1116-A2B0-7D78-595C-5E553BBE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At the end of this session students will be able to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5135A-AC96-F93F-6AC3-0695173329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48865" y="6099786"/>
            <a:ext cx="920078" cy="64178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3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C31B1-E024-809F-CD08-FE4ACAE236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11" name="Title 1">
            <a:extLst>
              <a:ext uri="{FF2B5EF4-FFF2-40B4-BE49-F238E27FC236}">
                <a16:creationId xmlns:a16="http://schemas.microsoft.com/office/drawing/2014/main" id="{7B0944F7-1217-E574-AF25-55C89102E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438238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A5FE3F-EF66-199F-5997-452F7820F9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111" y="41078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7C1312B-286D-382C-F44D-21FF76FBEA4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76" y="18372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2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6F82-479D-092A-2FA7-4FBFA5A9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9F83-5003-0F4A-398B-44A1BF1FFB5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404624"/>
            <a:ext cx="1732082" cy="410780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43B7D-1BBB-D70F-39AA-8ED3326A8B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4A2C2C-E16E-7706-87FC-A9935D6C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87" y="617318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Session Outline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5A284-FE57-4D43-4EF1-3FEB48F7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3" y="428727"/>
            <a:ext cx="2215421" cy="612478"/>
          </a:xfrm>
          <a:prstGeom prst="rect">
            <a:avLst/>
          </a:prstGeom>
        </p:spPr>
      </p:pic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A6F37EF-E43F-C8DB-8A2D-90DD3C5F0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095" y="193015"/>
            <a:ext cx="874732" cy="87473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67CA83-328F-3A70-34D2-B9F692D479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80126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8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499389"/>
            <a:ext cx="6199414" cy="999592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Keywords in Python</a:t>
            </a:r>
            <a:br>
              <a:rPr lang="en-IN" sz="1600" b="1" dirty="0"/>
            </a:b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78494"/>
            <a:ext cx="6499794" cy="3463489"/>
          </a:xfrm>
        </p:spPr>
        <p:txBody>
          <a:bodyPr>
            <a:normAutofit lnSpcReduction="10000"/>
          </a:bodyPr>
          <a:lstStyle/>
          <a:p>
            <a:endParaRPr 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Reserved words with special meanings.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FF0000"/>
                </a:solidFill>
                <a:latin typeface="Comic Sans MS" panose="030F0702030302020204" pitchFamily="66" charset="0"/>
              </a:rPr>
              <a:t>Examples:</a:t>
            </a:r>
            <a:r>
              <a:rPr lang="en-IN" dirty="0">
                <a:latin typeface="Comic Sans MS" panose="030F0702030302020204" pitchFamily="66" charset="0"/>
              </a:rPr>
              <a:t> if, else, while, for, def, class, print, input</a:t>
            </a:r>
            <a:endParaRPr 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Cannot be used as variable names.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latin typeface="Comic Sans MS" panose="030F0702030302020204" pitchFamily="66" charset="0"/>
              </a:rPr>
              <a:t>All the keywords in Python should be in lowercase except True and False.</a:t>
            </a:r>
          </a:p>
          <a:p>
            <a:pPr marL="742950" lvl="1" fontAlgn="base">
              <a:buFont typeface="Arial" panose="020B0604020202020204" pitchFamily="34" charset="0"/>
              <a:buChar char="•"/>
            </a:pPr>
            <a:r>
              <a:rPr lang="en-US" sz="2000" b="1" dirty="0" err="1"/>
              <a:t>iskeyword</a:t>
            </a:r>
            <a:r>
              <a:rPr lang="en-US" sz="2000" b="1" dirty="0"/>
              <a:t>() → checks if a string is a keyword.</a:t>
            </a:r>
          </a:p>
          <a:p>
            <a:pPr marL="742950" lvl="1" fontAlgn="base">
              <a:buFont typeface="Arial" panose="020B0604020202020204" pitchFamily="34" charset="0"/>
              <a:buChar char="•"/>
            </a:pPr>
            <a:r>
              <a:rPr lang="en-US" sz="2000" b="1" dirty="0" err="1"/>
              <a:t>kwlist</a:t>
            </a:r>
            <a:r>
              <a:rPr lang="en-US" sz="2000" b="1" dirty="0"/>
              <a:t> → returns the list of all keywords.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22140"/>
            <a:ext cx="4344695" cy="644722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57748-A28B-EE8C-3D9A-2E06EAA0E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041983"/>
            <a:ext cx="1705368" cy="62007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5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9E866-CAA4-63CE-D45F-CE4217F4B6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568E3-4E15-D75B-B86A-53CDA4672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21" y="543561"/>
            <a:ext cx="2215421" cy="61247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16F8CF4-3970-4A40-6C19-418D9223BE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723" y="182543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7996-E645-B2C9-5887-8F63431D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3FED-75B2-FDE1-19BE-877E0369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928689"/>
            <a:ext cx="4875744" cy="101441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omic Sans MS" panose="030F0702030302020204" pitchFamily="66" charset="0"/>
              </a:rPr>
              <a:t>Identifiers in Python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7D8B3-1736-F9E6-7835-44DAFDD887F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737113" y="1943101"/>
            <a:ext cx="7611245" cy="4131127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 Its a user-defined name given to </a:t>
            </a:r>
            <a:r>
              <a:rPr lang="en-US" dirty="0">
                <a:latin typeface="Comic Sans MS" panose="030F0702030302020204" pitchFamily="66" charset="0"/>
              </a:rPr>
              <a:t>Names used for variables, functions, classes, etc.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Must start with a letter (A-Z or a-z) or an underscore ( _ ).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Cannot be a keyword.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Case-sensitive.</a:t>
            </a:r>
          </a:p>
          <a:p>
            <a:br>
              <a:rPr lang="en-IN" sz="24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3C1B9-C275-87D0-720F-5E7CDBBAB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13B2-E4FD-B4D9-176F-95F484CB8DC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9178B0-629C-4376-62E5-BD0E01683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4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2DF2-1C44-0855-579B-9F53299B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8872-2D97-D0E7-81BC-102BD377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756558"/>
            <a:ext cx="5870859" cy="674914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omic Sans MS" panose="030F0702030302020204" pitchFamily="66" charset="0"/>
              </a:rPr>
              <a:t>Variables in Python</a:t>
            </a:r>
            <a:endParaRPr 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26B6-7B0C-1FEC-D235-B60482671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605643"/>
            <a:ext cx="7965460" cy="4539343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Containers for storing data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Example: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             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x = 10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9FBFB"/>
                </a:highlight>
                <a:latin typeface="Comic Sans MS" panose="030F0702030302020204" pitchFamily="66" charset="0"/>
              </a:rPr>
              <a:t>            y = 3.45</a:t>
            </a:r>
            <a:endParaRPr lang="en-US" b="0" i="0" dirty="0">
              <a:solidFill>
                <a:srgbClr val="000000"/>
              </a:solidFill>
              <a:effectLst/>
              <a:highlight>
                <a:srgbClr val="F9FBFB"/>
              </a:highlight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9FBFB"/>
                </a:highlight>
                <a:latin typeface="Comic Sans MS" panose="030F0702030302020204" pitchFamily="66" charset="0"/>
              </a:rPr>
              <a:t>           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name = "Python“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9FBFB"/>
                </a:highlight>
                <a:latin typeface="Comic Sans MS" panose="030F0702030302020204" pitchFamily="66" charset="0"/>
              </a:rPr>
              <a:t>            valid  = True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No need to declare types explicitly.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F9FBFB"/>
              </a:highlight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1168-450B-3923-9D1C-C0AB4A295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6F7C6-D1B4-C9A9-8E48-F95761BFCD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3C936-22D3-8BBE-0CAE-59F1E9E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F6263CB-B5AE-5B36-1AC6-3F19F1599C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88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FF66E-2197-9B03-DE74-F1A91EAC4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01A4C-201D-9E09-E660-51348A5B74F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EAD4A79-9755-B2EA-6C64-79D27FB38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085BEA-2864-CE72-45B2-D3FA32BFA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512" y="562271"/>
            <a:ext cx="6696134" cy="526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EDD0-6503-358F-90C0-EB12F807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430F-D046-08D3-A5A9-4B438646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13" y="1670957"/>
            <a:ext cx="6369614" cy="41297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 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4D202210-99E6-8E8E-4C1F-87573EFB588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332014"/>
            <a:ext cx="4344695" cy="60275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4C068-45DE-F219-85CF-4ACDF3338E2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83145" y="6167940"/>
            <a:ext cx="1453953" cy="64746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9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7257A-EF94-BB88-A275-0732FB14AF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65766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EBEB7-9B23-D92A-C7EA-B7E0109C9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18634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FF1FE90-983D-A17F-EAEB-C02B3414BD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923" y="253243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3801DD-E420-13E2-4E3C-D32E81178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262" y="579309"/>
            <a:ext cx="5035227" cy="558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33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351722"/>
            <a:ext cx="7796464" cy="8746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1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3AA8E-2D4F-F1F8-165E-1A896DEA1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38FFB-A0BF-F698-37C1-7384515379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3254C-A306-938E-24AC-3C807AEE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8" y="457199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ABE2697-097D-0FAA-2255-1A36B83A9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8ED1F9-4AE0-497F-65F6-FE0E46B8B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392" y="2226364"/>
            <a:ext cx="7413863" cy="365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987D-2EF0-2A15-6072-997CA641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754B-8B73-F2A0-E350-452FB2EF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618658"/>
            <a:ext cx="7796464" cy="387342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2</a:t>
            </a:r>
            <a:b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--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Open google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colab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 and start coding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4D7CB-8A69-AF39-8020-44B34EDA9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8C899-5513-1C28-06B2-D0C1F6BEA3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35870-23B4-4036-3B42-A03CA2D5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6" y="51514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31C39B-55D8-673F-1A94-C8B458B95D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28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1E31-47FA-3D74-313E-98293B5E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F968BF-8B7B-803F-ABB1-0FBD6196C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B4D0E-85B8-E679-6D8A-4387A729627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3487048-887F-60CC-0A46-47FDD19DA8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6AB03A-AA34-8136-5CC0-CFCA8B37D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329" y="614120"/>
            <a:ext cx="6591348" cy="542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4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E00A-11B4-D330-A150-D236B778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94CA-1DB1-7549-B3E4-541257AA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602" y="954158"/>
            <a:ext cx="4218376" cy="6531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Conclusions-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C0631F-3068-63F1-6023-91141BED5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5A49E-8429-0600-5536-8D601FDE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82137-F1FA-BBE2-A3BE-A0D5142B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8" y="55535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6B22593-37A6-4DEB-1E2A-897370424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36547-6846-1B2C-ED6B-AC7D18442CAA}"/>
              </a:ext>
            </a:extLst>
          </p:cNvPr>
          <p:cNvSpPr txBox="1"/>
          <p:nvPr/>
        </p:nvSpPr>
        <p:spPr>
          <a:xfrm>
            <a:off x="547428" y="1868557"/>
            <a:ext cx="94257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Python is beginner-friendly and widely used.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✅Understanding syntax, keywords, and data types is essential.</a:t>
            </a:r>
          </a:p>
          <a:p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✅ Operators help in performing various computations.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✅ Start coding and explore Python further!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3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DDF4-5241-1220-EBD7-CD3C2419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A95C-E0CD-E728-1B40-E3E9EB46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Now Students are able to </a:t>
            </a: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5319A-EA0E-3A6F-5D2B-F84A323B6C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224735"/>
            <a:ext cx="1732082" cy="46433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14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8F07B-3BDD-2D48-BE5C-11DC29FBC7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18BF1-F4AB-0C08-0310-E661CB28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3F69FD6-B8C2-4D32-6728-EE1EEB44F5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277" y="208906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C0C6E8FE-08D5-6737-EE6C-678868ECE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817069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28348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7CA4-3487-8BCD-59D7-5F61B5DE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4934-F18A-9C59-D70B-ABB4D350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772399"/>
            <a:ext cx="7796464" cy="523083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post session activities</a:t>
            </a:r>
            <a:b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1. </a:t>
            </a:r>
            <a:r>
              <a:rPr lang="en-US" sz="2400" dirty="0">
                <a:solidFill>
                  <a:schemeClr val="accent1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Write a program in python to check whether the given num is positive, negative or zero.</a:t>
            </a:r>
            <a:br>
              <a:rPr lang="en-US" sz="2400" dirty="0">
                <a:solidFill>
                  <a:schemeClr val="accent1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2. </a:t>
            </a:r>
            <a:r>
              <a:rPr lang="en-US" sz="2400" dirty="0">
                <a:solidFill>
                  <a:schemeClr val="accent1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Write a program in python to check a </a:t>
            </a:r>
            <a:r>
              <a:rPr lang="en-US" sz="2400" dirty="0" err="1">
                <a:solidFill>
                  <a:schemeClr val="accent1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givennumber</a:t>
            </a:r>
            <a:r>
              <a:rPr lang="en-US" sz="2400" dirty="0">
                <a:solidFill>
                  <a:schemeClr val="accent1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 is even or odd.</a:t>
            </a:r>
            <a:endParaRPr lang="en-US" dirty="0">
              <a:solidFill>
                <a:schemeClr val="accent1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9988D-4ECC-7843-D665-EDA5EDFAD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54D89-2F52-D528-3B08-70304B4D1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A21D0-3EC3-C8C9-71C6-4A4B9BD1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A7D21E7-AB1D-AE04-3F5D-AF37640F6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40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2F2C-06CA-7374-50D0-99BED7E4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D3AD-5DE7-9B21-97D7-EFF43A57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1374440"/>
            <a:ext cx="7796464" cy="3271394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Next session:</a:t>
            </a: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3200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Data Types, Operators, Boolean Values</a:t>
            </a:r>
            <a: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.</a:t>
            </a:r>
            <a:b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endParaRPr lang="en-US" sz="2000" dirty="0">
              <a:solidFill>
                <a:srgbClr val="202C8F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AB768-87E0-2412-9630-821604584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013B-1324-37A0-1E48-A7C2F7B227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464C4-8AF7-A650-3DB8-1CDAD8AD8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7" y="15096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E1D0DD1-8F39-44E3-1A66-F0B2CE3D9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 </a:t>
            </a:r>
          </a:p>
        </p:txBody>
      </p:sp>
      <p:pic>
        <p:nvPicPr>
          <p:cNvPr id="1026" name="Picture 2" descr="Wave Panda GIF - Wave Panda Love GIFs">
            <a:extLst>
              <a:ext uri="{FF2B5EF4-FFF2-40B4-BE49-F238E27FC236}">
                <a16:creationId xmlns:a16="http://schemas.microsoft.com/office/drawing/2014/main" id="{09897E71-AB9F-49A1-2659-F475216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4" y="1834243"/>
            <a:ext cx="3178629" cy="372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A9036-3DAB-BBCA-EEA2-6C99F5E5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839" y="5929400"/>
            <a:ext cx="443001" cy="539553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17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997B1-8B40-6DFF-7DE4-77D7780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4617435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33D5-6B0B-5FD9-FDE2-A96BE2CD5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C0424E-4C62-D264-97AF-E22FD26D4B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58" y="272572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2112</TotalTime>
  <Words>554</Words>
  <Application>Microsoft Office PowerPoint</Application>
  <PresentationFormat>Widescreen</PresentationFormat>
  <Paragraphs>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Comic Sans MS</vt:lpstr>
      <vt:lpstr>Garamond</vt:lpstr>
      <vt:lpstr>Georgia</vt:lpstr>
      <vt:lpstr>Roboto</vt:lpstr>
      <vt:lpstr>Wingdings</vt:lpstr>
      <vt:lpstr>Organic</vt:lpstr>
      <vt:lpstr> Keywords and Identifiers  </vt:lpstr>
      <vt:lpstr>     Review of the key concepts of last session     --- Syntax of python   </vt:lpstr>
      <vt:lpstr> At the end of this session students will be able to </vt:lpstr>
      <vt:lpstr>Session Outline</vt:lpstr>
      <vt:lpstr> Keywords in Python </vt:lpstr>
      <vt:lpstr>Identifiers in Python</vt:lpstr>
      <vt:lpstr>Variables in Python</vt:lpstr>
      <vt:lpstr>PowerPoint Presentation</vt:lpstr>
      <vt:lpstr>    </vt:lpstr>
      <vt:lpstr>Learning Activity 1 </vt:lpstr>
      <vt:lpstr>Learning Activity 2  --Open google colab and start coding</vt:lpstr>
      <vt:lpstr>PowerPoint Presentation</vt:lpstr>
      <vt:lpstr>Conclusions-</vt:lpstr>
      <vt:lpstr> Now Students are able to : </vt:lpstr>
      <vt:lpstr>post session activities  1. Write a program in python to check whether the given num is positive, negative or zero.   2. Write a program in python to check a givennumber is even or odd.</vt:lpstr>
      <vt:lpstr>Next session:  Data Types, Operators, Boolean Values.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Pooja Vajpayee</dc:creator>
  <cp:lastModifiedBy>Pooja Vajpayee</cp:lastModifiedBy>
  <cp:revision>5</cp:revision>
  <dcterms:created xsi:type="dcterms:W3CDTF">2024-03-23T10:51:44Z</dcterms:created>
  <dcterms:modified xsi:type="dcterms:W3CDTF">2026-08-21T06:02:42Z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