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3" r:id="rId4"/>
  </p:sldMasterIdLst>
  <p:notesMasterIdLst>
    <p:notesMasterId r:id="rId25"/>
  </p:notesMasterIdLst>
  <p:handoutMasterIdLst>
    <p:handoutMasterId r:id="rId26"/>
  </p:handoutMasterIdLst>
  <p:sldIdLst>
    <p:sldId id="312" r:id="rId5"/>
    <p:sldId id="282" r:id="rId6"/>
    <p:sldId id="328" r:id="rId7"/>
    <p:sldId id="332" r:id="rId8"/>
    <p:sldId id="334" r:id="rId9"/>
    <p:sldId id="307" r:id="rId10"/>
    <p:sldId id="314" r:id="rId11"/>
    <p:sldId id="317" r:id="rId12"/>
    <p:sldId id="327" r:id="rId13"/>
    <p:sldId id="323" r:id="rId14"/>
    <p:sldId id="329" r:id="rId15"/>
    <p:sldId id="304" r:id="rId16"/>
    <p:sldId id="281" r:id="rId17"/>
    <p:sldId id="330" r:id="rId18"/>
    <p:sldId id="335" r:id="rId19"/>
    <p:sldId id="341" r:id="rId20"/>
    <p:sldId id="333" r:id="rId21"/>
    <p:sldId id="338" r:id="rId22"/>
    <p:sldId id="339" r:id="rId23"/>
    <p:sldId id="297" r:id="rId2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88" autoAdjust="0"/>
  </p:normalViewPr>
  <p:slideViewPr>
    <p:cSldViewPr snapToGrid="0" snapToObjects="1">
      <p:cViewPr varScale="1">
        <p:scale>
          <a:sx n="84" d="100"/>
          <a:sy n="84" d="100"/>
        </p:scale>
        <p:origin x="351" y="5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189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Vajpayee" userId="5b87b0fd92f11293" providerId="LiveId" clId="{0501A310-59F1-4F20-8912-C0936825A972}"/>
    <pc:docChg chg="custSel delSld modSld">
      <pc:chgData name="Pooja Vajpayee" userId="5b87b0fd92f11293" providerId="LiveId" clId="{0501A310-59F1-4F20-8912-C0936825A972}" dt="2026-09-05T05:37:01.091" v="54" actId="14100"/>
      <pc:docMkLst>
        <pc:docMk/>
      </pc:docMkLst>
      <pc:sldChg chg="modSp">
        <pc:chgData name="Pooja Vajpayee" userId="5b87b0fd92f11293" providerId="LiveId" clId="{0501A310-59F1-4F20-8912-C0936825A972}" dt="2026-08-21T06:08:09.655" v="47"/>
        <pc:sldMkLst>
          <pc:docMk/>
          <pc:sldMk cId="2202437675" sldId="312"/>
        </pc:sldMkLst>
        <pc:spChg chg="mod">
          <ac:chgData name="Pooja Vajpayee" userId="5b87b0fd92f11293" providerId="LiveId" clId="{0501A310-59F1-4F20-8912-C0936825A972}" dt="2026-08-21T06:08:09.655" v="47"/>
          <ac:spMkLst>
            <pc:docMk/>
            <pc:sldMk cId="2202437675" sldId="312"/>
            <ac:spMk id="5" creationId="{15D13C77-5584-2E97-6EAE-6617012A8968}"/>
          </ac:spMkLst>
        </pc:spChg>
      </pc:sldChg>
      <pc:sldChg chg="addSp modSp mod">
        <pc:chgData name="Pooja Vajpayee" userId="5b87b0fd92f11293" providerId="LiveId" clId="{0501A310-59F1-4F20-8912-C0936825A972}" dt="2026-09-05T05:36:08.374" v="50" actId="1076"/>
        <pc:sldMkLst>
          <pc:docMk/>
          <pc:sldMk cId="2855528818" sldId="335"/>
        </pc:sldMkLst>
        <pc:picChg chg="add mod">
          <ac:chgData name="Pooja Vajpayee" userId="5b87b0fd92f11293" providerId="LiveId" clId="{0501A310-59F1-4F20-8912-C0936825A972}" dt="2026-09-05T05:36:08.374" v="50" actId="1076"/>
          <ac:picMkLst>
            <pc:docMk/>
            <pc:sldMk cId="2855528818" sldId="335"/>
            <ac:picMk id="8" creationId="{FFDD16FB-D3EA-0C1F-C9E0-BA66774725F6}"/>
          </ac:picMkLst>
        </pc:picChg>
      </pc:sldChg>
      <pc:sldChg chg="addSp modSp mod">
        <pc:chgData name="Pooja Vajpayee" userId="5b87b0fd92f11293" providerId="LiveId" clId="{0501A310-59F1-4F20-8912-C0936825A972}" dt="2026-09-05T05:37:01.091" v="54" actId="14100"/>
        <pc:sldMkLst>
          <pc:docMk/>
          <pc:sldMk cId="2648432597" sldId="341"/>
        </pc:sldMkLst>
        <pc:picChg chg="add mod">
          <ac:chgData name="Pooja Vajpayee" userId="5b87b0fd92f11293" providerId="LiveId" clId="{0501A310-59F1-4F20-8912-C0936825A972}" dt="2026-09-05T05:37:01.091" v="54" actId="14100"/>
          <ac:picMkLst>
            <pc:docMk/>
            <pc:sldMk cId="2648432597" sldId="341"/>
            <ac:picMk id="9" creationId="{0E20D3BA-5A00-8B06-6E0A-D78A1EA855C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Apply conditional statements (if, </a:t>
          </a:r>
          <a:r>
            <a:rPr lang="en-IN" sz="2800" dirty="0" err="1">
              <a:solidFill>
                <a:schemeClr val="bg1"/>
              </a:solidFill>
              <a:latin typeface="Comic Sans MS" panose="030F0702030302020204" pitchFamily="66" charset="0"/>
            </a:rPr>
            <a:t>elif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, else) to control program flow based on different conditions. </a:t>
          </a: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dirty="0">
              <a:solidFill>
                <a:srgbClr val="FFFF00"/>
              </a:solidFill>
            </a:rPr>
            <a:t>Learning Outcome 2: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Use loops(for &amp; while) and loop control statements (break, continue) for efficient iteration and execution.</a:t>
          </a: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#2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/>
            <a:t>1. </a:t>
          </a:r>
          <a:r>
            <a:rPr lang="en-US" dirty="0"/>
            <a:t>Introduction to Python Language</a:t>
          </a:r>
          <a:r>
            <a:rPr lang="en-IN" dirty="0">
              <a:solidFill>
                <a:schemeClr val="tx1"/>
              </a:solidFill>
            </a:rPr>
            <a:t>.</a:t>
          </a:r>
          <a:endParaRPr lang="en-US" dirty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/>
            <a:t>2 . Opening and Learning Outcomes. </a:t>
          </a:r>
          <a:endParaRPr lang="en-US" dirty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/>
            <a:t>3. </a:t>
          </a:r>
          <a:r>
            <a:rPr lang="en-US" dirty="0"/>
            <a:t> Conditional statements in Python.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/>
            <a:t>4.  A1 ( Fill the blanks):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/>
            <a:t>5.</a:t>
          </a:r>
          <a:r>
            <a:rPr lang="en-US" dirty="0"/>
            <a:t> Loops in Python</a:t>
          </a:r>
          <a:r>
            <a:rPr lang="en-IN" dirty="0"/>
            <a:t>.</a:t>
          </a:r>
          <a:endParaRPr lang="en-US" dirty="0"/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/>
      <dgm:spPr/>
      <dgm:t>
        <a:bodyPr/>
        <a:lstStyle/>
        <a:p>
          <a:r>
            <a:rPr lang="en-IN" dirty="0"/>
            <a:t>6 . A2 (Short Answers):</a:t>
          </a:r>
          <a:endParaRPr lang="en-US" dirty="0"/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99FC8459-9AC4-4D1E-9BDA-DFE1D1DCA09B}">
      <dgm:prSet/>
      <dgm:spPr/>
      <dgm:t>
        <a:bodyPr/>
        <a:lstStyle/>
        <a:p>
          <a:r>
            <a:rPr lang="en-IN"/>
            <a:t>7. Conclusion </a:t>
          </a:r>
          <a:r>
            <a:rPr lang="en-IN" dirty="0"/>
            <a:t>&amp; Closure</a:t>
          </a:r>
        </a:p>
      </dgm:t>
    </dgm:pt>
    <dgm:pt modelId="{77280AB4-38B6-4095-89FE-042382F10ACA}" type="parTrans" cxnId="{5CD507EF-195E-4EAE-B039-D7C99BE1A3F1}">
      <dgm:prSet/>
      <dgm:spPr/>
      <dgm:t>
        <a:bodyPr/>
        <a:lstStyle/>
        <a:p>
          <a:endParaRPr lang="en-IN"/>
        </a:p>
      </dgm:t>
    </dgm:pt>
    <dgm:pt modelId="{68E857C9-4009-415C-853F-EBFD4C6F4A7B}" type="sibTrans" cxnId="{5CD507EF-195E-4EAE-B039-D7C99BE1A3F1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7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7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7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7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7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7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7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7"/>
      <dgm:spPr/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7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7"/>
      <dgm:spPr/>
    </dgm:pt>
    <dgm:pt modelId="{88DBC881-0983-4C91-8705-CB8A16D50941}" type="pres">
      <dgm:prSet presAssocID="{BA2E5375-FD77-47B4-A888-7387932E6D62}" presName="vert1" presStyleCnt="0"/>
      <dgm:spPr/>
    </dgm:pt>
    <dgm:pt modelId="{2B37DFBD-1045-417A-89DD-348147EAB4F5}" type="pres">
      <dgm:prSet presAssocID="{B3A5C720-F6BA-415B-BACC-D6E1E00A3E9C}" presName="thickLine" presStyleLbl="alignNode1" presStyleIdx="5" presStyleCnt="7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5" presStyleCnt="7"/>
      <dgm:spPr/>
    </dgm:pt>
    <dgm:pt modelId="{41D82D7D-82CC-403F-8FAA-7EF8B4434DBF}" type="pres">
      <dgm:prSet presAssocID="{B3A5C720-F6BA-415B-BACC-D6E1E00A3E9C}" presName="vert1" presStyleCnt="0"/>
      <dgm:spPr/>
    </dgm:pt>
    <dgm:pt modelId="{C00E17CF-93B3-44F2-9630-42C8C4D9A573}" type="pres">
      <dgm:prSet presAssocID="{99FC8459-9AC4-4D1E-9BDA-DFE1D1DCA09B}" presName="thickLine" presStyleLbl="alignNode1" presStyleIdx="6" presStyleCnt="7"/>
      <dgm:spPr/>
    </dgm:pt>
    <dgm:pt modelId="{FEF2EC88-6F8F-4301-AF91-82A9E13BC377}" type="pres">
      <dgm:prSet presAssocID="{99FC8459-9AC4-4D1E-9BDA-DFE1D1DCA09B}" presName="horz1" presStyleCnt="0"/>
      <dgm:spPr/>
    </dgm:pt>
    <dgm:pt modelId="{797037F6-2CA6-433A-BB99-F6CF6517BE03}" type="pres">
      <dgm:prSet presAssocID="{99FC8459-9AC4-4D1E-9BDA-DFE1D1DCA09B}" presName="tx1" presStyleLbl="revTx" presStyleIdx="6" presStyleCnt="7"/>
      <dgm:spPr/>
    </dgm:pt>
    <dgm:pt modelId="{F4E6ED3E-11A2-4D61-988A-2C3FC1B42073}" type="pres">
      <dgm:prSet presAssocID="{99FC8459-9AC4-4D1E-9BDA-DFE1D1DCA09B}" presName="vert1" presStyleCnt="0"/>
      <dgm:spPr/>
    </dgm:pt>
  </dgm:ptLst>
  <dgm:cxnLst>
    <dgm:cxn modelId="{AC777213-F11B-480E-B008-A2643A65BF23}" type="presOf" srcId="{B3A5C720-F6BA-415B-BACC-D6E1E00A3E9C}" destId="{1DE32878-1683-410B-AEEA-0DF09EA5FA6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F50F0544-F653-402B-9303-8E578B71C73E}" type="presOf" srcId="{99FC8459-9AC4-4D1E-9BDA-DFE1D1DCA09B}" destId="{797037F6-2CA6-433A-BB99-F6CF6517BE03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0929CE6D-F2B1-4F6D-A0E5-1B096EB2DD2D}" srcId="{B64DB52A-CA4F-4852-B41E-6A1F43CC58F9}" destId="{B3A5C720-F6BA-415B-BACC-D6E1E00A3E9C}" srcOrd="5" destOrd="0" parTransId="{F429E385-C516-4FAE-9D81-A0D8E294980B}" sibTransId="{70FFF6AF-5C8B-41F5-90C8-E0C6F35FD64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5CD507EF-195E-4EAE-B039-D7C99BE1A3F1}" srcId="{B64DB52A-CA4F-4852-B41E-6A1F43CC58F9}" destId="{99FC8459-9AC4-4D1E-9BDA-DFE1D1DCA09B}" srcOrd="6" destOrd="0" parTransId="{77280AB4-38B6-4095-89FE-042382F10ACA}" sibTransId="{68E857C9-4009-415C-853F-EBFD4C6F4A7B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  <dgm:cxn modelId="{D52B8AEE-6B59-47DE-96B8-D9B647AB0BD5}" type="presParOf" srcId="{573103A9-89AC-4873-8CB5-0F4B7370B2E1}" destId="{2B37DFBD-1045-417A-89DD-348147EAB4F5}" srcOrd="10" destOrd="0" presId="urn:microsoft.com/office/officeart/2008/layout/LinedList"/>
    <dgm:cxn modelId="{87CEFD5A-15D0-405F-A288-77213AA4C691}" type="presParOf" srcId="{573103A9-89AC-4873-8CB5-0F4B7370B2E1}" destId="{37DCFB0B-1A16-4C35-A117-077E4A9AB132}" srcOrd="11" destOrd="0" presId="urn:microsoft.com/office/officeart/2008/layout/LinedList"/>
    <dgm:cxn modelId="{FAE27A14-2C4C-460F-8666-684E767B4C26}" type="presParOf" srcId="{37DCFB0B-1A16-4C35-A117-077E4A9AB132}" destId="{1DE32878-1683-410B-AEEA-0DF09EA5FA62}" srcOrd="0" destOrd="0" presId="urn:microsoft.com/office/officeart/2008/layout/LinedList"/>
    <dgm:cxn modelId="{B8632CF4-76F8-45D5-970F-DC293805AC34}" type="presParOf" srcId="{37DCFB0B-1A16-4C35-A117-077E4A9AB132}" destId="{41D82D7D-82CC-403F-8FAA-7EF8B4434DBF}" srcOrd="1" destOrd="0" presId="urn:microsoft.com/office/officeart/2008/layout/LinedList"/>
    <dgm:cxn modelId="{3BCDC9A2-18EF-4657-8CC7-758895941243}" type="presParOf" srcId="{573103A9-89AC-4873-8CB5-0F4B7370B2E1}" destId="{C00E17CF-93B3-44F2-9630-42C8C4D9A573}" srcOrd="12" destOrd="0" presId="urn:microsoft.com/office/officeart/2008/layout/LinedList"/>
    <dgm:cxn modelId="{7B63E39B-EB89-4D7E-B6EB-7A2411849EDB}" type="presParOf" srcId="{573103A9-89AC-4873-8CB5-0F4B7370B2E1}" destId="{FEF2EC88-6F8F-4301-AF91-82A9E13BC377}" srcOrd="13" destOrd="0" presId="urn:microsoft.com/office/officeart/2008/layout/LinedList"/>
    <dgm:cxn modelId="{C43CD435-9D61-42E3-B13F-A9BB5E271817}" type="presParOf" srcId="{FEF2EC88-6F8F-4301-AF91-82A9E13BC377}" destId="{797037F6-2CA6-433A-BB99-F6CF6517BE03}" srcOrd="0" destOrd="0" presId="urn:microsoft.com/office/officeart/2008/layout/LinedList"/>
    <dgm:cxn modelId="{15332F65-C6CF-4E3C-9160-CE7AA1938B4B}" type="presParOf" srcId="{FEF2EC88-6F8F-4301-AF91-82A9E13BC377}" destId="{F4E6ED3E-11A2-4D61-988A-2C3FC1B420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#3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Apply conditional statements (if, </a:t>
          </a:r>
          <a:r>
            <a:rPr lang="en-IN" sz="2800" dirty="0" err="1">
              <a:solidFill>
                <a:schemeClr val="bg1"/>
              </a:solidFill>
              <a:latin typeface="Comic Sans MS" panose="030F0702030302020204" pitchFamily="66" charset="0"/>
            </a:rPr>
            <a:t>elif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, else) to control program flow based on different conditions. </a:t>
          </a: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dirty="0">
              <a:solidFill>
                <a:srgbClr val="FFFF00"/>
              </a:solidFill>
            </a:rPr>
            <a:t>Learning Outcome 2: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Use loops(for &amp; while) and loop control statements (break, continue) for efficient iteration and execution.</a:t>
          </a: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301937" cy="1725148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Apply conditional statements (if, </a:t>
          </a:r>
          <a:r>
            <a:rPr lang="en-IN" sz="2800" kern="1200" dirty="0" err="1">
              <a:solidFill>
                <a:schemeClr val="bg1"/>
              </a:solidFill>
              <a:latin typeface="Comic Sans MS" panose="030F0702030302020204" pitchFamily="66" charset="0"/>
            </a:rPr>
            <a:t>elif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, else) to control program flow based on different conditions. </a:t>
          </a:r>
        </a:p>
      </dsp:txBody>
      <dsp:txXfrm>
        <a:off x="50528" y="50528"/>
        <a:ext cx="7518861" cy="1624092"/>
      </dsp:txXfrm>
    </dsp:sp>
    <dsp:sp modelId="{44D88BBB-38CB-469E-A6A9-728BBCFF911D}">
      <dsp:nvSpPr>
        <dsp:cNvPr id="0" name=""/>
        <dsp:cNvSpPr/>
      </dsp:nvSpPr>
      <dsp:spPr>
        <a:xfrm>
          <a:off x="1641518" y="2108515"/>
          <a:ext cx="9301937" cy="1725148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Use loops(for &amp; while) and loop control statements (break, continue) for efficient iteration and execution.</a:t>
          </a:r>
        </a:p>
      </dsp:txBody>
      <dsp:txXfrm>
        <a:off x="1692046" y="2159043"/>
        <a:ext cx="6438016" cy="1624092"/>
      </dsp:txXfrm>
    </dsp:sp>
    <dsp:sp modelId="{38D8FA70-234F-4000-93A9-1CC368BF0D65}">
      <dsp:nvSpPr>
        <dsp:cNvPr id="0" name=""/>
        <dsp:cNvSpPr/>
      </dsp:nvSpPr>
      <dsp:spPr>
        <a:xfrm>
          <a:off x="8180590" y="1356158"/>
          <a:ext cx="1121346" cy="11213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432893" y="1356158"/>
        <a:ext cx="616740" cy="843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1. </a:t>
          </a:r>
          <a:r>
            <a:rPr lang="en-US" sz="3600" kern="1200" dirty="0"/>
            <a:t>Introduction to Python Language</a:t>
          </a:r>
          <a:r>
            <a:rPr lang="en-IN" sz="3600" kern="1200" dirty="0">
              <a:solidFill>
                <a:schemeClr val="tx1"/>
              </a:solidFill>
            </a:rPr>
            <a:t>.</a:t>
          </a:r>
          <a:endParaRPr lang="en-US" sz="3600" kern="1200" dirty="0"/>
        </a:p>
      </dsp:txBody>
      <dsp:txXfrm>
        <a:off x="0" y="675"/>
        <a:ext cx="6900512" cy="790684"/>
      </dsp:txXfrm>
    </dsp:sp>
    <dsp:sp modelId="{F83A5B86-9D43-4C81-A6D4-87875817B689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2 . Opening and Learning Outcomes. </a:t>
          </a:r>
          <a:endParaRPr lang="en-US" sz="3600" kern="1200" dirty="0"/>
        </a:p>
      </dsp:txBody>
      <dsp:txXfrm>
        <a:off x="0" y="791359"/>
        <a:ext cx="6900512" cy="790684"/>
      </dsp:txXfrm>
    </dsp:sp>
    <dsp:sp modelId="{7EE56E18-6978-43E9-9D4D-E31AA5BEE44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3. </a:t>
          </a:r>
          <a:r>
            <a:rPr lang="en-US" sz="3600" kern="1200" dirty="0"/>
            <a:t> Conditional statements in Python.</a:t>
          </a:r>
        </a:p>
      </dsp:txBody>
      <dsp:txXfrm>
        <a:off x="0" y="1582044"/>
        <a:ext cx="6900512" cy="790684"/>
      </dsp:txXfrm>
    </dsp:sp>
    <dsp:sp modelId="{B514687E-679F-4404-A929-C733AA004539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4.  A1 ( Fill the blanks):</a:t>
          </a:r>
          <a:endParaRPr lang="en-US" sz="3600" kern="1200" dirty="0"/>
        </a:p>
      </dsp:txBody>
      <dsp:txXfrm>
        <a:off x="0" y="2372728"/>
        <a:ext cx="6900512" cy="790684"/>
      </dsp:txXfrm>
    </dsp:sp>
    <dsp:sp modelId="{0B062B2C-FD23-461E-89A1-3ECDF7A567C2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5.</a:t>
          </a:r>
          <a:r>
            <a:rPr lang="en-US" sz="3600" kern="1200" dirty="0"/>
            <a:t> Loops in Python</a:t>
          </a:r>
          <a:r>
            <a:rPr lang="en-IN" sz="3600" kern="1200" dirty="0"/>
            <a:t>.</a:t>
          </a:r>
          <a:endParaRPr lang="en-US" sz="3600" kern="1200" dirty="0"/>
        </a:p>
      </dsp:txBody>
      <dsp:txXfrm>
        <a:off x="0" y="3163412"/>
        <a:ext cx="6900512" cy="790684"/>
      </dsp:txXfrm>
    </dsp:sp>
    <dsp:sp modelId="{2B37DFBD-1045-417A-89DD-348147EAB4F5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6 . A2 (Short Answers):</a:t>
          </a:r>
          <a:endParaRPr lang="en-US" sz="3600" kern="1200" dirty="0"/>
        </a:p>
      </dsp:txBody>
      <dsp:txXfrm>
        <a:off x="0" y="3954096"/>
        <a:ext cx="6900512" cy="790684"/>
      </dsp:txXfrm>
    </dsp:sp>
    <dsp:sp modelId="{C00E17CF-93B3-44F2-9630-42C8C4D9A573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037F6-2CA6-433A-BB99-F6CF6517BE03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7. Conclusion </a:t>
          </a:r>
          <a:r>
            <a:rPr lang="en-IN" sz="3600" kern="1200" dirty="0"/>
            <a:t>&amp; Closure</a:t>
          </a:r>
        </a:p>
      </dsp:txBody>
      <dsp:txXfrm>
        <a:off x="0" y="4744781"/>
        <a:ext cx="6900512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146328" cy="1748662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Apply conditional statements (if, </a:t>
          </a:r>
          <a:r>
            <a:rPr lang="en-IN" sz="2800" kern="1200" dirty="0" err="1">
              <a:solidFill>
                <a:schemeClr val="bg1"/>
              </a:solidFill>
              <a:latin typeface="Comic Sans MS" panose="030F0702030302020204" pitchFamily="66" charset="0"/>
            </a:rPr>
            <a:t>elif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, else) to control program flow based on different conditions. </a:t>
          </a:r>
        </a:p>
      </dsp:txBody>
      <dsp:txXfrm>
        <a:off x="51217" y="51217"/>
        <a:ext cx="7338948" cy="1646228"/>
      </dsp:txXfrm>
    </dsp:sp>
    <dsp:sp modelId="{44D88BBB-38CB-469E-A6A9-728BBCFF911D}">
      <dsp:nvSpPr>
        <dsp:cNvPr id="0" name=""/>
        <dsp:cNvSpPr/>
      </dsp:nvSpPr>
      <dsp:spPr>
        <a:xfrm>
          <a:off x="1614057" y="2137253"/>
          <a:ext cx="9146328" cy="1748662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Use loops(for &amp; while) and loop control statements (break, continue) for efficient iteration and execution.</a:t>
          </a:r>
        </a:p>
      </dsp:txBody>
      <dsp:txXfrm>
        <a:off x="1665274" y="2188470"/>
        <a:ext cx="6293205" cy="1646228"/>
      </dsp:txXfrm>
    </dsp:sp>
    <dsp:sp modelId="{38D8FA70-234F-4000-93A9-1CC368BF0D65}">
      <dsp:nvSpPr>
        <dsp:cNvPr id="0" name=""/>
        <dsp:cNvSpPr/>
      </dsp:nvSpPr>
      <dsp:spPr>
        <a:xfrm>
          <a:off x="8009697" y="1374642"/>
          <a:ext cx="1136630" cy="113663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265439" y="1374642"/>
        <a:ext cx="625146" cy="855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POOJA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1119-95D6-CC62-728E-399DF7CE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840D8-BC72-CBBB-52EF-FC457220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2B900-C185-5DBB-F23C-6B17E555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02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F23B-17DC-75CE-EA39-6684EFF4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3F48F-1831-6F8A-F386-5C1B58EFA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709EB-8558-CEF4-9454-8A027C93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42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57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98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E400-D07C-11FB-6F40-73CE5D16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AC5FD-C861-4C77-FB2B-B99BFCDFE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02393-4E23-72A4-71C2-B549CDC3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81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4B59-F5E6-97CC-BCBC-FB757114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2E880-6377-D485-B784-EF5D932A2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D4161-A583-56C3-E407-3EE2479A4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60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DD63-B4C1-82DC-AD16-B539C2A3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3F96B-B942-D621-F655-E13C8A58B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B3B75-F84B-4DEB-A6F3-C1502ECF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3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1FF8-6F51-F8C6-6002-E9FA5325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EE7D4-484D-14F8-1567-B38C13EEB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9FA4E-2E0F-957C-0EA3-F9D6AB02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16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CFA3-EA4B-FE43-6223-44F9056E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CB8C8-4786-3E5A-F7B8-084F8163B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35F85-A580-2DAD-9CCC-700BD11E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33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D06F-758B-6F25-0458-2C2A042A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5CD93-9057-48F5-43AA-5D905540E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206FF-AA70-E0D2-F910-9A075160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04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9608-9C37-B623-F558-60E91C3F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C51F8-E056-174D-3B9A-AD1B7FA6E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7DB29-C975-3CB5-0587-44D0D58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60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993AC3B-8BB0-72DF-2954-3A9413BF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E9C7F-36D7-721E-1936-E2EC20C4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7ACA0A-AFD7-520C-AF50-DB7043D9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6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1933C37-F5DA-BFCD-2AB6-1B9F3350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D23D35-2380-76AC-63A9-D056394B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03DF53-9AA4-A1DC-AB9D-387F5E56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0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ABB2E-CFA1-AEE8-0780-A1662A73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82F77-BB19-0351-CF6A-DEBD85F7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2AF23-B428-A508-DB8C-EE44FC1D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6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73836C0-62B0-4CAF-CE45-02D9AC03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12D9F3-C6CA-9C2B-826E-4B8C6936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4CBF44-8787-84F8-8CFC-FB59AD99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3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97FFC1F-0452-584B-D8E1-AE72A3F1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F92AC41-12B3-A91B-CB7D-587D8FC8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6A1BAAA-44FE-CB4B-766E-3E352118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A1BBFB-842B-3470-D2B6-C78A0B80E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23220-CFEA-6FA4-F387-25257EC48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24893B7-F89C-4640-D263-5F66CD92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9D88B0C-ADF0-4AE2-4FD8-017C14C2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F8AE3E-832F-525B-0D3E-7EF70660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09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C61A281-BCA5-E72C-77B7-147322BDF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D3022A9-33D0-3073-D816-1C34FA1D9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E62296-CD4E-8FD7-C9BD-6DE7A356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E6B98BC-A90C-5472-3F9B-D66F1594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C416B4-4E88-5D5D-2A9F-43DA44BE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65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0855A47-CFED-6003-31EC-A7B1D572C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031857-C2CD-F03E-3762-548FC7A6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5F9737E-0F20-98C1-CF93-73CA9F4D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952C4AB-6436-CD4F-31D0-D7F0C7AF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33AF243-EEE8-15D4-B9D0-D398DB57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96BA464-DD16-61AA-3061-D4AE1F59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D1A456B-B851-1A11-9A3C-6663BA7E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5DD979-FA66-79A4-0616-82FE5828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93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78D6B68-932B-8B32-18AE-9529C3D8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E2B4FCD-4175-0C27-251B-291F1AE9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534B1EC-7C10-627B-5DE4-84B35FCE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5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F69423-E6B9-F487-F0DB-08BCE911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DBB2133-0311-13A2-799F-8A7230C3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9084C2E-A0B4-F370-C092-55721291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94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97C61C0-BCEF-7249-C601-258C38988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D63DE27-3977-F745-A955-07844DE915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4599C78-0CC5-BD61-6E10-0C9E34AADD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86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9C23712-907B-F3AD-519D-6CDBB0F2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2DB105C-701A-141A-E040-765627D8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C407705-B8E5-5DB2-ACB5-50F92E6C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30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03F94-6E23-3649-CEAE-F3F5C6D5EA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69CC95-DA94-A1B3-A894-900A512C4F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F4001-BD5F-946B-1D85-155B712C9A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803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C88D2-6F7B-7940-DC18-CA0DD3F1B3F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E56C7-0731-094E-2657-2F69BDDA065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AC601-3BA1-665F-E37B-20CEC092CA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84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529C0-43AA-320F-6524-C1BEE0F2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24F3F-0C20-A5D0-06DB-3AA7BF92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E1901-B7D1-22A1-CA84-D9ED3AAF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55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D4AE1-1F43-7B0A-F014-83B18F72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BD6A6-6B13-582E-7546-651FD4B0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4719F-305F-264B-F4C4-38C066EE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49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5C6EA-CC72-7503-F2FD-B62E9A457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9085A21-D7DC-860A-0531-F7DF76979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13" y="149187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1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09381" y="5911327"/>
            <a:ext cx="739184" cy="629322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75D1-7BA1-AA39-E6A6-4C2BD5621C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61E1F-F2D4-CA8F-16FC-D818D50F6D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3487" y="6356350"/>
            <a:ext cx="2307515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790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EBC89-6430-72ED-6543-B9C719ED7D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80DB3-68C1-8C9D-618C-10479642A1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337507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674E5-FC49-8817-6138-526DAFDE5C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8259" y="5969000"/>
            <a:ext cx="457200" cy="2794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12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DAF93-1CBA-7B88-4CBA-FD063FCA8A3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9152D-2767-A6B6-0ABE-E9F9BCA5A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339788" cy="410780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C530D-C5D9-3A8E-BFEE-D5C03A9549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39773" y="6336254"/>
            <a:ext cx="484095" cy="398032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356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96645" y="6164132"/>
            <a:ext cx="935783" cy="419548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90A00-86AF-E915-BEEE-2133D086934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719EE-0FDC-CA1B-D322-99BA4F6373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412145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076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88683" y="6123709"/>
            <a:ext cx="798022" cy="653935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5EAB7-6276-36DC-3569-037D8F05A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D52D5-44CE-44E1-A11B-A5ACA30ADF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415988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76B52-A0C4-2157-90BB-918EC9BC9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14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257878" y="6104965"/>
            <a:ext cx="780795" cy="50560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CA864-09E2-0E82-C92B-2CA90A12F0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336EF-CFE6-B577-3274-CF41EA6D92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316339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6693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CDE17-F158-2784-2CCE-B8AC65C9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2312893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02BBF-A77B-3676-9044-25220DBC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1417" y="5981253"/>
            <a:ext cx="977322" cy="740222"/>
          </a:xfrm>
        </p:spPr>
        <p:txBody>
          <a:bodyPr/>
          <a:lstStyle>
            <a:lvl1pPr>
              <a:defRPr sz="1300" baseline="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697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19" y="6126480"/>
            <a:ext cx="455967" cy="623944"/>
          </a:xfrm>
        </p:spPr>
        <p:txBody>
          <a:bodyPr/>
          <a:lstStyle>
            <a:lvl1pPr>
              <a:defRPr sz="1600" baseline="0">
                <a:solidFill>
                  <a:srgbClr val="FF0000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41A6-37BC-896C-B3FF-EC1F316F7F1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EEA00-72D2-A7ED-347F-60AC51655E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3346" y="6524512"/>
            <a:ext cx="2396674" cy="33348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76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0964" y="-134739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271D362-1D04-1937-57E2-85DC10EC7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80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23" r:id="rId25"/>
    <p:sldLayoutId id="2147483724" r:id="rId26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jpe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jpe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5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9.png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jpeg"/><Relationship Id="rId9" Type="http://schemas.microsoft.com/office/2007/relationships/diagramDrawing" Target="../diagrams/drawing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0.png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Conditional Statements &amp; Loops</a:t>
            </a:r>
            <a:b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br>
              <a:rPr lang="en-US" sz="2800" dirty="0"/>
            </a:br>
            <a:endParaRPr lang="en-US" sz="4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85C8FCE-D8B6-E820-DD1E-49ADD8DEA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732" y="125638"/>
            <a:ext cx="1190469" cy="119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D13C77-5584-2E97-6EAE-6617012A8968}"/>
              </a:ext>
            </a:extLst>
          </p:cNvPr>
          <p:cNvSpPr txBox="1"/>
          <p:nvPr/>
        </p:nvSpPr>
        <p:spPr>
          <a:xfrm>
            <a:off x="7519662" y="4738000"/>
            <a:ext cx="47253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 Python Programming</a:t>
            </a:r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- E1UA311C</a:t>
            </a:r>
            <a:b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 </a:t>
            </a:r>
            <a: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  <a:t>Pooja Vajpayee</a:t>
            </a:r>
            <a:b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 </a:t>
            </a:r>
            <a: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  <a:t>50 Mins</a:t>
            </a:r>
            <a:b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endParaRPr lang="en-IN" sz="1400" dirty="0">
              <a:solidFill>
                <a:srgbClr val="7030A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10" y="193104"/>
            <a:ext cx="8127369" cy="1238368"/>
          </a:xfrm>
        </p:spPr>
        <p:txBody>
          <a:bodyPr/>
          <a:lstStyle/>
          <a:p>
            <a: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  <a:t> </a:t>
            </a: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Review of the key concepts of last session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2782-E3D5-8846-39AF-1863B1CFD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6395856"/>
            <a:ext cx="1642353" cy="41954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A5C4B-2FEE-2678-03E2-9B817E1AA6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AutoShape 2" descr="Machine learning outlet real life applications">
            <a:extLst>
              <a:ext uri="{FF2B5EF4-FFF2-40B4-BE49-F238E27FC236}">
                <a16:creationId xmlns:a16="http://schemas.microsoft.com/office/drawing/2014/main" id="{0DFC41C2-8CEC-4727-4DE3-E1ABAEF3A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CB5F4-42D1-F03B-8BEA-48CEA111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05CAC3C-2318-EC8A-2E48-8DCFD24267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865" y="556740"/>
            <a:ext cx="874732" cy="874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5050FF-A130-B7EA-44B7-CB5130419925}"/>
              </a:ext>
            </a:extLst>
          </p:cNvPr>
          <p:cNvSpPr txBox="1"/>
          <p:nvPr/>
        </p:nvSpPr>
        <p:spPr>
          <a:xfrm>
            <a:off x="2765919" y="2288840"/>
            <a:ext cx="81273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Python is a high-level, interpreted, and easy-to-learn programming language.</a:t>
            </a:r>
          </a:p>
          <a:p>
            <a:endParaRPr lang="en-US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2. Names used for variables, functions, and classes, following specific naming rules.</a:t>
            </a:r>
          </a:p>
          <a:p>
            <a:endParaRPr lang="en-US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3. Containers for storing data, dynamically typed without explicit declaration.</a:t>
            </a:r>
          </a:p>
          <a:p>
            <a:endParaRPr lang="en-US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4. Perform mathematical operations like</a:t>
            </a:r>
            <a:endParaRPr lang="en-IN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5FA9-6EC0-5772-5450-FC3CD4E50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732248"/>
            <a:ext cx="6583680" cy="4309736"/>
          </a:xfrm>
        </p:spPr>
        <p:txBody>
          <a:bodyPr/>
          <a:lstStyle/>
          <a:p>
            <a:r>
              <a:rPr lang="en-US" dirty="0"/>
              <a:t>💡   </a:t>
            </a:r>
            <a:r>
              <a:rPr lang="en-US" b="1" dirty="0"/>
              <a:t>"</a:t>
            </a:r>
            <a:r>
              <a:rPr lang="en-US" dirty="0"/>
              <a:t>How would you print numbers from 1 to 10 </a:t>
            </a:r>
            <a:r>
              <a:rPr lang="en-US" b="1" dirty="0"/>
              <a:t>"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802B9-5171-F7A0-775B-AC6C9B701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B183-A48D-A7C8-9ECC-B370179225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D8D2AF-C560-7648-AB9C-0AF4AB05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EEEDE06-D284-B09B-B77A-C8BECEEA2C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9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719E-5093-51ED-6170-B3AB02ED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1116-A2B0-7D78-595C-5E553BBE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At the end of this session students will be able to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5135A-AC96-F93F-6AC3-0695173329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48865" y="6099786"/>
            <a:ext cx="920078" cy="64178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C31B1-E024-809F-CD08-FE4ACAE236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A5FE3F-EF66-199F-5997-452F7820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11" y="41078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7C1312B-286D-382C-F44D-21FF76FBEA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76" y="183724"/>
            <a:ext cx="874732" cy="874732"/>
          </a:xfrm>
          <a:prstGeom prst="rect">
            <a:avLst/>
          </a:prstGeom>
        </p:spPr>
      </p:pic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6B10EE8D-B4B5-66D5-0CDE-0E8FA7216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08444"/>
              </p:ext>
            </p:extLst>
          </p:nvPr>
        </p:nvGraphicFramePr>
        <p:xfrm>
          <a:off x="613386" y="2266123"/>
          <a:ext cx="10943456" cy="3833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92292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6F82-479D-092A-2FA7-4FBFA5A9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C9F83-5003-0F4A-398B-44A1BF1FFB5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404624"/>
            <a:ext cx="1732082" cy="410780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5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43B7D-1BBB-D70F-39AA-8ED3326A8B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4A2C2C-E16E-7706-87FC-A9935D6C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87" y="617318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Session Outline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5A284-FE57-4D43-4EF1-3FEB48F7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3" y="428727"/>
            <a:ext cx="2215421" cy="612478"/>
          </a:xfrm>
          <a:prstGeom prst="rect">
            <a:avLst/>
          </a:prstGeom>
        </p:spPr>
      </p:pic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A6F37EF-E43F-C8DB-8A2D-90DD3C5F0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095" y="193015"/>
            <a:ext cx="874732" cy="874732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B67CA83-328F-3A70-34D2-B9F692D479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682596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3863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413" y="1670957"/>
            <a:ext cx="6369614" cy="41297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 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202076" y="-764130"/>
            <a:ext cx="4344695" cy="602751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22E67C-0B27-4CE5-5B38-C6473D589F7C}"/>
              </a:ext>
            </a:extLst>
          </p:cNvPr>
          <p:cNvSpPr txBox="1"/>
          <p:nvPr/>
        </p:nvSpPr>
        <p:spPr>
          <a:xfrm>
            <a:off x="4788041" y="545232"/>
            <a:ext cx="667887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omic Sans MS" panose="030F0702030302020204" pitchFamily="66" charset="0"/>
              </a:rPr>
              <a:t>Conditional Statements in Python?</a:t>
            </a:r>
          </a:p>
          <a:p>
            <a:endParaRPr lang="en-IN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Conditional execution in Python allows you to run specific blocks of code based on certain conditions using </a:t>
            </a: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</a:rPr>
              <a:t>if, </a:t>
            </a:r>
            <a:r>
              <a:rPr lang="en-US" b="1" dirty="0" err="1">
                <a:solidFill>
                  <a:srgbClr val="0070C0"/>
                </a:solidFill>
                <a:latin typeface="Comic Sans MS" panose="030F0702030302020204" pitchFamily="66" charset="0"/>
              </a:rPr>
              <a:t>elif</a:t>
            </a: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</a:rPr>
              <a:t>, and else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statements. Here’s how it works: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n-US" sz="1800" dirty="0">
              <a:solidFill>
                <a:srgbClr val="0070C0"/>
              </a:solidFill>
              <a:effectLst/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u="sng" dirty="0">
                <a:solidFill>
                  <a:srgbClr val="FF000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if statements :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n-US" b="1" u="sng" dirty="0">
              <a:solidFill>
                <a:srgbClr val="0070C0"/>
              </a:solidFill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x = 10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if x &gt; 5: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   print("x is greater than 5")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n-US" b="1" dirty="0">
              <a:solidFill>
                <a:srgbClr val="0070C0"/>
              </a:solidFill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u="sng" dirty="0">
                <a:solidFill>
                  <a:srgbClr val="FF000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if-else statement :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n-US" b="1" dirty="0">
              <a:solidFill>
                <a:srgbClr val="0070C0"/>
              </a:solidFill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x = 3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if x &gt; 5: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   print("x is greater than 5")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else: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   print("x is not greater than 5")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n-US" b="1" dirty="0">
              <a:solidFill>
                <a:srgbClr val="0070C0"/>
              </a:solidFill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n-US" dirty="0">
              <a:solidFill>
                <a:srgbClr val="0070C0"/>
              </a:solidFill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n-IN" sz="1800" dirty="0">
              <a:solidFill>
                <a:srgbClr val="0070C0"/>
              </a:solidFill>
              <a:effectLst/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AD204-F28B-9C83-7BF1-B49AD5EEA93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83145" y="6167940"/>
            <a:ext cx="1453953" cy="64746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6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0EF01-9951-83CC-072F-55BA2935F36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65766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5D677-3055-D0F7-9897-A9B94D91D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18634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D7D7916-EB18-CEDE-096A-34B20EBE81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923" y="253243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FF66E-2197-9B03-DE74-F1A91EAC4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01A4C-201D-9E09-E660-51348A5B74F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EAD4A79-9755-B2EA-6C64-79D27FB38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A13C0E-E577-D4DC-5A22-1C6DA6D69112}"/>
              </a:ext>
            </a:extLst>
          </p:cNvPr>
          <p:cNvSpPr txBox="1"/>
          <p:nvPr/>
        </p:nvSpPr>
        <p:spPr>
          <a:xfrm>
            <a:off x="3578086" y="1051486"/>
            <a:ext cx="745718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x = 10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if x &lt; 5: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print("x is less than 5")</a:t>
            </a:r>
          </a:p>
          <a:p>
            <a:r>
              <a:rPr lang="en-US" sz="20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elif</a:t>
            </a: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x == 10: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print("x is exactly 10")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else: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print("x is greater than 5 but not 10")</a:t>
            </a:r>
          </a:p>
          <a:p>
            <a:endParaRPr lang="en-IN" sz="2000" dirty="0"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FF4EE-C8C4-343B-A01B-5B13EE721D55}"/>
              </a:ext>
            </a:extLst>
          </p:cNvPr>
          <p:cNvSpPr txBox="1"/>
          <p:nvPr/>
        </p:nvSpPr>
        <p:spPr>
          <a:xfrm>
            <a:off x="3674639" y="3350907"/>
            <a:ext cx="752129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nested if statements : </a:t>
            </a:r>
          </a:p>
          <a:p>
            <a:endParaRPr lang="en-US" sz="20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x = 10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if x &gt; 5: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print("x is greater than 5")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if x % 2 == 0:</a:t>
            </a:r>
          </a:p>
          <a:p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    print("x is even")</a:t>
            </a:r>
          </a:p>
          <a:p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41649C-5635-F763-39AA-5AEA52480283}"/>
              </a:ext>
            </a:extLst>
          </p:cNvPr>
          <p:cNvSpPr txBox="1"/>
          <p:nvPr/>
        </p:nvSpPr>
        <p:spPr>
          <a:xfrm>
            <a:off x="3578086" y="613386"/>
            <a:ext cx="5527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if-</a:t>
            </a:r>
            <a:r>
              <a:rPr lang="en-US" sz="240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elif</a:t>
            </a:r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-else statements :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5046C-7645-DEC7-7761-40E244546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CEC0E-CF44-1A18-8E7A-523CAF69E1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3346" y="6406480"/>
            <a:ext cx="2617906" cy="451517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02201-A04F-A0BA-0FFE-492F6F74D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23" y="78276"/>
            <a:ext cx="2215421" cy="378923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5A510B1-7F4B-4D4D-BFF9-C42A72F3C2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990" y="87822"/>
            <a:ext cx="874732" cy="874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5D7BF9-5CAE-2120-66AC-826DD7FCF8D5}"/>
              </a:ext>
            </a:extLst>
          </p:cNvPr>
          <p:cNvSpPr txBox="1"/>
          <p:nvPr/>
        </p:nvSpPr>
        <p:spPr>
          <a:xfrm>
            <a:off x="533873" y="670181"/>
            <a:ext cx="85717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imes New Roman" panose="02020603050405020304" pitchFamily="18" charset="0"/>
              </a:rPr>
              <a:t>i</a:t>
            </a:r>
            <a:r>
              <a:rPr lang="en-IN" b="1" dirty="0">
                <a:solidFill>
                  <a:srgbClr val="FF000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imes New Roman" panose="02020603050405020304" pitchFamily="18" charset="0"/>
              </a:rPr>
              <a:t>f as a ternary operator :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dirty="0">
              <a:solidFill>
                <a:srgbClr val="FF0000"/>
              </a:solidFill>
              <a:latin typeface="Comic Sans MS" panose="030F0702030302020204" pitchFamily="66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imes New Roman" panose="02020603050405020304" pitchFamily="18" charset="0"/>
              </a:rPr>
              <a:t>x = 10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imes New Roman" panose="02020603050405020304" pitchFamily="18" charset="0"/>
              </a:rPr>
              <a:t>result = "Even" if x % 2 == 0 else "Odd"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imes New Roman" panose="02020603050405020304" pitchFamily="18" charset="0"/>
              </a:rPr>
              <a:t>print(result)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IN" dirty="0">
                <a:solidFill>
                  <a:srgbClr val="FF000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endParaRPr lang="en-IN" sz="1800" dirty="0">
              <a:solidFill>
                <a:srgbClr val="FF0000"/>
              </a:solidFill>
              <a:effectLst/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97C58-F6DC-C52B-C87D-91C74A057AC5}"/>
              </a:ext>
            </a:extLst>
          </p:cNvPr>
          <p:cNvSpPr txBox="1"/>
          <p:nvPr/>
        </p:nvSpPr>
        <p:spPr>
          <a:xfrm>
            <a:off x="443346" y="2424507"/>
            <a:ext cx="8662317" cy="4295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  <a:ea typeface="Trebuchet MS" panose="020B0603020202020204" pitchFamily="34" charset="0"/>
                <a:cs typeface="Trebuchet MS" panose="020B0603020202020204" pitchFamily="34" charset="0"/>
              </a:rPr>
              <a:t>Conditional operators in if statements : </a:t>
            </a:r>
            <a:endParaRPr lang="en-IN" sz="1600" dirty="0">
              <a:solidFill>
                <a:srgbClr val="FF0000"/>
              </a:solidFill>
              <a:effectLst/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x = 10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y = 5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if x &gt; 5 and y &lt; 10: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print("Both conditions are True")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if x &gt; 15 or y &lt; 10: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print("At least one condition is True")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if not x == 5: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print("x is not equal to 5")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351722"/>
            <a:ext cx="7796464" cy="87464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1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3AA8E-2D4F-F1F8-165E-1A896DEA1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38FFB-A0BF-F698-37C1-7384515379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3254C-A306-938E-24AC-3C807AEE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8" y="457199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ABE2697-097D-0FAA-2255-1A36B83A9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BDBCED-5142-5E6D-17B6-28FD32501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149" y="2727462"/>
            <a:ext cx="3119112" cy="238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9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31A33B-4180-1B3F-154F-81A6D877ED25}"/>
              </a:ext>
            </a:extLst>
          </p:cNvPr>
          <p:cNvSpPr txBox="1"/>
          <p:nvPr/>
        </p:nvSpPr>
        <p:spPr>
          <a:xfrm>
            <a:off x="197530" y="1056388"/>
            <a:ext cx="7549311" cy="649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ea typeface="Times New Roman" panose="02020603050405020304" pitchFamily="18" charset="0"/>
                <a:cs typeface="Trebuchet MS" panose="020B0603020202020204" pitchFamily="34" charset="0"/>
              </a:rPr>
              <a:t>Loops in</a:t>
            </a:r>
            <a:r>
              <a:rPr lang="en-US" sz="24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Times New Roman" panose="02020603050405020304" pitchFamily="18" charset="0"/>
                <a:cs typeface="Trebuchet MS" panose="020B0603020202020204" pitchFamily="34" charset="0"/>
              </a:rPr>
              <a:t> Python : 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Used to iterate over a sequence (list, tuple, string, dictionary, range </a:t>
            </a:r>
            <a:r>
              <a:rPr lang="en-US" sz="2400" dirty="0" err="1">
                <a:solidFill>
                  <a:srgbClr val="00B050"/>
                </a:solidFill>
                <a:latin typeface="Comic Sans MS" panose="030F0702030302020204" pitchFamily="66" charset="0"/>
              </a:rPr>
              <a:t>etc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).</a:t>
            </a:r>
            <a:endParaRPr lang="en-IN" sz="2400" dirty="0">
              <a:solidFill>
                <a:srgbClr val="00B050"/>
              </a:solidFill>
              <a:effectLst/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/>
            <a:r>
              <a:rPr lang="en-US" sz="18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Times New Roman" panose="02020603050405020304" pitchFamily="18" charset="0"/>
                <a:cs typeface="Trebuchet MS" panose="020B0603020202020204" pitchFamily="34" charset="0"/>
              </a:rPr>
              <a:t> </a:t>
            </a:r>
            <a:endParaRPr lang="en-IN" sz="1800" dirty="0">
              <a:effectLst/>
              <a:latin typeface="Comic Sans MS" panose="030F0702030302020204" pitchFamily="66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Loops in Python allow you to execute a block of code multiple times. Python supports two main types of loops :                     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 1. for loops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 2. while loops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for </a:t>
            </a:r>
            <a:r>
              <a:rPr lang="en-US" sz="20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in range(5):  # Iterates from 0 to 4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</a:t>
            </a:r>
            <a:r>
              <a:rPr lang="en-US" sz="20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for char in "Python":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print(char)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solidFill>
                <a:srgbClr val="0070C0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IN" sz="2000" dirty="0">
              <a:solidFill>
                <a:srgbClr val="0070C0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70FA-823E-0EAC-D7FE-63B668D9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6077068"/>
            <a:ext cx="1663928" cy="604178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10</a:t>
            </a:fld>
            <a:endParaRPr lang="en-US" sz="1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11259B-681C-E28A-937C-6CD1E31C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2635288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DEC06-F7FF-D8F3-69DC-68B52E135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30" y="109968"/>
            <a:ext cx="2215421" cy="61247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AEBFD57-ADFB-1393-7F44-82CF876E30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63" y="109968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2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7996-E645-B2C9-5887-8F63431D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3FED-75B2-FDE1-19BE-877E0369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202" y="928689"/>
            <a:ext cx="5611350" cy="101441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</a:t>
            </a:r>
            <a:r>
              <a:rPr lang="en-IN" b="1" dirty="0">
                <a:solidFill>
                  <a:srgbClr val="FF0000"/>
                </a:solidFill>
                <a:latin typeface="Comic Sans MS" panose="030F0702030302020204" pitchFamily="66" charset="0"/>
              </a:rPr>
              <a:t>sing break in for loop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7D8B3-1736-F9E6-7835-44DAFDD887F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737113" y="1943101"/>
            <a:ext cx="7611245" cy="413112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for </a:t>
            </a:r>
            <a:r>
              <a:rPr lang="en-US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in range(10):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if </a:t>
            </a:r>
            <a:r>
              <a:rPr lang="en-US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== 5: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    break  # Stops when </a:t>
            </a:r>
            <a:r>
              <a:rPr lang="en-US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is 5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</a:t>
            </a:r>
            <a:r>
              <a:rPr lang="en-US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sz="3600" b="1" dirty="0">
                <a:ln w="3175" cmpd="sng">
                  <a:noFill/>
                </a:ln>
                <a:solidFill>
                  <a:srgbClr val="FF0000"/>
                </a:solidFill>
                <a:latin typeface="Comic Sans MS" panose="030F0702030302020204" pitchFamily="66" charset="0"/>
                <a:ea typeface="+mj-ea"/>
                <a:cs typeface="+mj-cs"/>
              </a:rPr>
              <a:t>using continue in for loop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for </a:t>
            </a:r>
            <a:r>
              <a:rPr lang="en-US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in range(5):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if </a:t>
            </a:r>
            <a:r>
              <a:rPr lang="en-US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== 2: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    continue  # Skips 2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</a:t>
            </a:r>
            <a:r>
              <a:rPr lang="en-US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3C1B9-C275-87D0-720F-5E7CDBBAB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13B2-E4FD-B4D9-176F-95F484CB8DC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B9178B0-629C-4376-62E5-BD0E01683F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6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103836" cy="947591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while loops : 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Executes as long as a condition remains true.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1953749"/>
            <a:ext cx="9484770" cy="4088235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x = 0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while x &lt; 5: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print(x)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    x += 1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------------------------------------------------- </a:t>
            </a:r>
            <a:r>
              <a:rPr lang="en-US"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Using break in while loops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x = 0</a:t>
            </a:r>
            <a:endParaRPr lang="en-US" sz="18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while x &lt; 10: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    if x == 5: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        break  # Stops loop when x is 5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print(x)</a:t>
            </a:r>
          </a:p>
          <a:p>
            <a:r>
              <a:rPr lang="en-US" sz="1800" dirty="0">
                <a:solidFill>
                  <a:srgbClr val="0070C0"/>
                </a:solidFill>
                <a:latin typeface="Comic Sans MS" panose="030F0702030302020204" pitchFamily="66" charset="0"/>
              </a:rPr>
              <a:t>    x += 1</a:t>
            </a:r>
          </a:p>
          <a:p>
            <a:endParaRPr lang="en-US" sz="18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37A42-F749-7240-6934-F3DDB0E45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00B34-DEE8-0819-C7B9-619DB77099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3487" y="6356350"/>
            <a:ext cx="2614175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BF932-0416-E23A-8A9E-41B300807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63" y="593852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06BB4C-0B62-9E57-6E13-FD12E34A83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499389"/>
            <a:ext cx="6199414" cy="999592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using continue in while loops</a:t>
            </a:r>
            <a:br>
              <a:rPr lang="en-IN" sz="1600" b="1" dirty="0"/>
            </a:b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30" y="2050302"/>
            <a:ext cx="6840564" cy="3991682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x = 0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while x &lt; 5: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x += 1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if x == 3: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    continue  </a:t>
            </a:r>
            <a:r>
              <a:rPr lang="en-US" sz="1600" dirty="0">
                <a:solidFill>
                  <a:srgbClr val="0070C0"/>
                </a:solidFill>
                <a:latin typeface="Comic Sans MS" panose="030F0702030302020204" pitchFamily="66" charset="0"/>
              </a:rPr>
              <a:t># Skips the rest of the loop for x = 3</a:t>
            </a: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print(x)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22140"/>
            <a:ext cx="4344695" cy="644722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57748-A28B-EE8C-3D9A-2E06EAA0E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041983"/>
            <a:ext cx="1705368" cy="62007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13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9E866-CAA4-63CE-D45F-CE4217F4B6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2568E3-4E15-D75B-B86A-53CDA4672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21" y="543561"/>
            <a:ext cx="2215421" cy="61247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16F8CF4-3970-4A40-6C19-418D9223BE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723" y="182543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2DF2-1C44-0855-579B-9F53299B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8872-2D97-D0E7-81BC-102BD377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756558"/>
            <a:ext cx="5870859" cy="67491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N</a:t>
            </a:r>
            <a:r>
              <a:rPr lang="en-IN" dirty="0" err="1">
                <a:solidFill>
                  <a:srgbClr val="FF0000"/>
                </a:solidFill>
                <a:latin typeface="Comic Sans MS" panose="030F0702030302020204" pitchFamily="66" charset="0"/>
              </a:rPr>
              <a:t>ested</a:t>
            </a:r>
            <a:r>
              <a:rPr lang="en-IN" dirty="0">
                <a:solidFill>
                  <a:srgbClr val="FF0000"/>
                </a:solidFill>
                <a:latin typeface="Comic Sans MS" panose="030F0702030302020204" pitchFamily="66" charset="0"/>
              </a:rPr>
              <a:t> for loop</a:t>
            </a:r>
            <a:endParaRPr 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26B6-7B0C-1FEC-D235-B60482671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605643"/>
            <a:ext cx="7965460" cy="4539343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for </a:t>
            </a:r>
            <a:r>
              <a:rPr lang="en-US" b="0" i="0" dirty="0" err="1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i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in range(3):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   for j in range(2):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       print(</a:t>
            </a:r>
            <a:r>
              <a:rPr lang="en-US" b="0" i="0" dirty="0" err="1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f"i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= {</a:t>
            </a:r>
            <a:r>
              <a:rPr lang="en-US" b="0" i="0" dirty="0" err="1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i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}, j = {j}")</a:t>
            </a:r>
          </a:p>
          <a:p>
            <a:pPr marL="0" indent="0" algn="l">
              <a:buNone/>
            </a:pPr>
            <a:endParaRPr lang="en-US" b="0" i="0" dirty="0">
              <a:solidFill>
                <a:srgbClr val="0070C0"/>
              </a:solidFill>
              <a:effectLst/>
              <a:highlight>
                <a:srgbClr val="F9FBFB"/>
              </a:highlight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F9FBFB"/>
              </a:highlight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11168-450B-3923-9D1C-C0AB4A295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6F7C6-D1B4-C9A9-8E48-F95761BFCD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3C936-22D3-8BBE-0CAE-59F1E9E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F6263CB-B5AE-5B36-1AC6-3F19F1599C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71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987D-2EF0-2A15-6072-997CA641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754B-8B73-F2A0-E350-452FB2EF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618658"/>
            <a:ext cx="7796464" cy="79513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54D7CB-8A69-AF39-8020-44B34EDA9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8C899-5513-1C28-06B2-D0C1F6BEA3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35870-23B4-4036-3B42-A03CA2D5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6" y="51514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31C39B-55D8-673F-1A94-C8B458B95D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A094C1-A818-AD78-6F4B-4ED1DDBE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558" y="2640969"/>
            <a:ext cx="3521292" cy="3174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DD16FB-D3EA-0C1F-C9E0-BA66774725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091" y="116825"/>
            <a:ext cx="3732351" cy="50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28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E00A-11B4-D330-A150-D236B778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94CA-1DB1-7549-B3E4-541257AA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602" y="954158"/>
            <a:ext cx="4218376" cy="65314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Conclusions-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C0631F-3068-63F1-6023-91141BED5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5A49E-8429-0600-5536-8D601FDEB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82137-F1FA-BBE2-A3BE-A0D5142B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28" y="55535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6B22593-37A6-4DEB-1E2A-8973704245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936547-6846-1B2C-ED6B-AC7D18442CAA}"/>
              </a:ext>
            </a:extLst>
          </p:cNvPr>
          <p:cNvSpPr txBox="1"/>
          <p:nvPr/>
        </p:nvSpPr>
        <p:spPr>
          <a:xfrm>
            <a:off x="547428" y="1868557"/>
            <a:ext cx="94257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</a:t>
            </a:r>
            <a:r>
              <a:rPr lang="en-IN" dirty="0"/>
              <a:t>Conditional statements (if , </a:t>
            </a:r>
            <a:r>
              <a:rPr lang="en-IN" dirty="0" err="1"/>
              <a:t>elif</a:t>
            </a:r>
            <a:r>
              <a:rPr lang="en-IN" dirty="0"/>
              <a:t> , else) </a:t>
            </a:r>
            <a:r>
              <a:rPr lang="en-US" dirty="0"/>
              <a:t>control execution based on conditions.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✅ Loops (for &amp; while) help iterate over sequences or run while a condition is true.</a:t>
            </a:r>
          </a:p>
          <a:p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✅ “break” &amp; “continue“ </a:t>
            </a:r>
            <a:r>
              <a:rPr lang="en-IN" dirty="0"/>
              <a:t>modify loop execution flow.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✅ Start coding and explore Python further!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20D3BA-5A00-8B06-6E0A-D78A1EA85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244" y="1607299"/>
            <a:ext cx="2663716" cy="390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32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DDF4-5241-1220-EBD7-CD3C2419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A95C-E0CD-E728-1B40-E3E9EB46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Now Students are able to </a:t>
            </a:r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5319A-EA0E-3A6F-5D2B-F84A323B6CF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224735"/>
            <a:ext cx="1732082" cy="46433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17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8F07B-3BDD-2D48-BE5C-11DC29FBC7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18BF1-F4AB-0C08-0310-E661CB28C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3F69FD6-B8C2-4D32-6728-EE1EEB44F5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277" y="208906"/>
            <a:ext cx="874732" cy="874732"/>
          </a:xfrm>
          <a:prstGeom prst="rect">
            <a:avLst/>
          </a:prstGeom>
        </p:spPr>
      </p:pic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C0C6E8FE-08D5-6737-EE6C-678868ECE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9364591"/>
              </p:ext>
            </p:extLst>
          </p:nvPr>
        </p:nvGraphicFramePr>
        <p:xfrm>
          <a:off x="644056" y="2419469"/>
          <a:ext cx="10760386" cy="3885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28348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7CA4-3487-8BCD-59D7-5F61B5DE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4934-F18A-9C59-D70B-ABB4D350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772399"/>
            <a:ext cx="7796464" cy="8349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post session activities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9988D-4ECC-7843-D665-EDA5EDFAD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54D89-2F52-D528-3B08-70304B4D1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95CA9-4ACF-27BA-CB46-DEE4C487C389}"/>
              </a:ext>
            </a:extLst>
          </p:cNvPr>
          <p:cNvSpPr txBox="1"/>
          <p:nvPr/>
        </p:nvSpPr>
        <p:spPr>
          <a:xfrm>
            <a:off x="675861" y="1942390"/>
            <a:ext cx="6724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* Attempt the Post-session activity on LMS, before next session.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A21D0-3EC3-C8C9-71C6-4A4B9BD1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A7D21E7-AB1D-AE04-3F5D-AF37640F66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D66C50-4A98-6DC6-A172-BBDC2F380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44" y="2478406"/>
            <a:ext cx="7652975" cy="354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40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2F2C-06CA-7374-50D0-99BED7E4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D3AD-5DE7-9B21-97D7-EFF43A57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1374440"/>
            <a:ext cx="7796464" cy="3271394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Next session:</a:t>
            </a: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List, Dictionary, Tuple</a:t>
            </a:r>
            <a:endParaRPr lang="en-US" sz="2000" dirty="0">
              <a:solidFill>
                <a:srgbClr val="202C8F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AB768-87E0-2412-9630-821604584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F013B-1324-37A0-1E48-A7C2F7B227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464C4-8AF7-A650-3DB8-1CDAD8AD8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7" y="15096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E1D0DD1-8F39-44E3-1A66-F0B2CE3D99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0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You </a:t>
            </a:r>
          </a:p>
        </p:txBody>
      </p:sp>
      <p:pic>
        <p:nvPicPr>
          <p:cNvPr id="1026" name="Picture 2" descr="Wave Panda GIF - Wave Panda Love GIFs">
            <a:extLst>
              <a:ext uri="{FF2B5EF4-FFF2-40B4-BE49-F238E27FC236}">
                <a16:creationId xmlns:a16="http://schemas.microsoft.com/office/drawing/2014/main" id="{09897E71-AB9F-49A1-2659-F475216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4" y="1834243"/>
            <a:ext cx="3178629" cy="372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A9036-3DAB-BBCA-EEA2-6C99F5E5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2839" y="5929400"/>
            <a:ext cx="443001" cy="539553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20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997B1-8B40-6DFF-7DE4-77D77806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4617435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33D5-6B0B-5FD9-FDE2-A96BE2CD5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C0424E-4C62-D264-97AF-E22FD26D4B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58" y="272572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1930</TotalTime>
  <Words>1032</Words>
  <Application>Microsoft Office PowerPoint</Application>
  <PresentationFormat>Widescreen</PresentationFormat>
  <Paragraphs>180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Comic Sans MS</vt:lpstr>
      <vt:lpstr>Garamond</vt:lpstr>
      <vt:lpstr>Georgia</vt:lpstr>
      <vt:lpstr>Roboto</vt:lpstr>
      <vt:lpstr>Symbol</vt:lpstr>
      <vt:lpstr>Wingdings</vt:lpstr>
      <vt:lpstr>Organic</vt:lpstr>
      <vt:lpstr>Conditional Statements &amp; Loops  </vt:lpstr>
      <vt:lpstr>     Review of the key concepts of last session   </vt:lpstr>
      <vt:lpstr>PowerPoint Presentation</vt:lpstr>
      <vt:lpstr> At the end of this session students will be able to </vt:lpstr>
      <vt:lpstr>Session Outline</vt:lpstr>
      <vt:lpstr>    </vt:lpstr>
      <vt:lpstr>PowerPoint Presentation</vt:lpstr>
      <vt:lpstr>PowerPoint Presentation</vt:lpstr>
      <vt:lpstr>Learning Activity 1 </vt:lpstr>
      <vt:lpstr>PowerPoint Presentation</vt:lpstr>
      <vt:lpstr>Using break in for loop</vt:lpstr>
      <vt:lpstr>while loops : Executes as long as a condition remains true.</vt:lpstr>
      <vt:lpstr> using continue in while loops </vt:lpstr>
      <vt:lpstr>Nested for loop</vt:lpstr>
      <vt:lpstr>Learning Activity 2</vt:lpstr>
      <vt:lpstr>Conclusions-</vt:lpstr>
      <vt:lpstr> Now Students are able to : </vt:lpstr>
      <vt:lpstr>post session activities</vt:lpstr>
      <vt:lpstr>Next session:  List, Dictionary, Tuple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Pooja Vajpayee</dc:creator>
  <cp:lastModifiedBy>Pooja Vajpayee</cp:lastModifiedBy>
  <cp:revision>5</cp:revision>
  <dcterms:created xsi:type="dcterms:W3CDTF">2024-03-23T10:51:44Z</dcterms:created>
  <dcterms:modified xsi:type="dcterms:W3CDTF">2026-09-05T05:37:02Z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